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A5C"/>
    <a:srgbClr val="9AA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t3_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vit3_repor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en-U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en-US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en-US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0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E56"/>
            </a:gs>
            <a:gs pos="100000">
              <a:srgbClr val="1D5FA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deco-corner"/>
          <p:cNvGrpSpPr/>
          <p:nvPr/>
        </p:nvGrpSpPr>
        <p:grpSpPr>
          <a:xfrm>
            <a:off x="0" y="-571500"/>
            <a:ext cx="12382500" cy="7715250"/>
            <a:chOff x="0" y="-571500"/>
            <a:chExt cx="12382500" cy="7715250"/>
          </a:xfrm>
        </p:grpSpPr>
        <p:sp>
          <p:nvSpPr>
            <p:cNvPr id="2" name="Rectangle 2"/>
            <p:cNvSpPr/>
            <p:nvPr/>
          </p:nvSpPr>
          <p:spPr>
            <a:xfrm>
              <a:off x="10287000" y="-381000"/>
              <a:ext cx="1714500" cy="1714500"/>
            </a:xfrm>
            <a:prstGeom prst="rect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11239500" y="1143000"/>
              <a:ext cx="1143000" cy="114300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81000" y="5715000"/>
              <a:ext cx="1428750" cy="142875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619250" y="6286500"/>
              <a:ext cx="762000" cy="76200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0" y="-571500"/>
              <a:ext cx="1143000" cy="114300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10000"/>
                  </a:srgbClr>
                </a:gs>
                <a:gs pos="60000">
                  <a:srgbClr val="FFFFFF">
                    <a:alpha val="0"/>
                  </a:srgb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0" name="cover-kicker"/>
          <p:cNvGrpSpPr/>
          <p:nvPr/>
        </p:nvGrpSpPr>
        <p:grpSpPr>
          <a:xfrm>
            <a:off x="3666793" y="1253014"/>
            <a:ext cx="4858414" cy="249364"/>
            <a:chOff x="3666793" y="1253014"/>
            <a:chExt cx="4858414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3666793" y="1253014"/>
              <a:ext cx="4858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spc="225" dirty="0">
                  <a:solidFill>
                    <a:srgbClr val="9FC3EF"/>
                  </a:solidFill>
                  <a:latin typeface="+mn-lt"/>
                  <a:ea typeface="+mn-ea"/>
                  <a:cs typeface="+mn-cs"/>
                </a:rPr>
                <a:t>CVPR </a:t>
              </a:r>
              <a:r>
                <a:rPr lang="en-US" sz="1280" spc="225" dirty="0">
                  <a:solidFill>
                    <a:srgbClr val="9FC3E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280" spc="225" dirty="0">
                  <a:solidFill>
                    <a:srgbClr val="9FC3EF"/>
                  </a:solidFill>
                  <a:latin typeface="+mn-lt"/>
                  <a:ea typeface="+mn-ea"/>
                  <a:cs typeface="+mn-cs"/>
                </a:rPr>
                <a:t> · ORAL · arXiv:</a:t>
              </a:r>
              <a:r>
                <a:rPr lang="en-US" sz="1280" spc="225" dirty="0">
                  <a:solidFill>
                    <a:srgbClr val="9FC3EF"/>
                  </a:solidFill>
                  <a:latin typeface="Times New Roman"/>
                  <a:ea typeface="+mn-ea"/>
                  <a:cs typeface="+mn-cs"/>
                </a:rPr>
                <a:t>2512.01643</a:t>
              </a:r>
            </a:p>
          </p:txBody>
        </p:sp>
      </p:grpSp>
      <p:grpSp>
        <p:nvGrpSpPr>
          <p:cNvPr id="13" name="cover-title"/>
          <p:cNvGrpSpPr/>
          <p:nvPr/>
        </p:nvGrpSpPr>
        <p:grpSpPr>
          <a:xfrm>
            <a:off x="392968" y="2044065"/>
            <a:ext cx="11406065" cy="645414"/>
            <a:chOff x="392968" y="2044065"/>
            <a:chExt cx="11406065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92968" y="2044065"/>
              <a:ext cx="1140606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ViT³: Unlocking Test-Time Training in Vision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619750" y="2647950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6EA8E8"/>
            </a:solidFill>
            <a:ln>
              <a:noFill/>
            </a:ln>
          </p:spPr>
        </p:sp>
      </p:grpSp>
      <p:grpSp>
        <p:nvGrpSpPr>
          <p:cNvPr id="17" name="cover-authors"/>
          <p:cNvGrpSpPr/>
          <p:nvPr/>
        </p:nvGrpSpPr>
        <p:grpSpPr>
          <a:xfrm>
            <a:off x="2950913" y="3248025"/>
            <a:ext cx="6290174" cy="914781"/>
            <a:chOff x="2950913" y="3248025"/>
            <a:chExt cx="6290174" cy="914781"/>
          </a:xfrm>
        </p:grpSpPr>
        <p:sp>
          <p:nvSpPr>
            <p:cNvPr id="14" name="TextBox 14"/>
            <p:cNvSpPr txBox="1"/>
            <p:nvPr/>
          </p:nvSpPr>
          <p:spPr>
            <a:xfrm>
              <a:off x="3575123" y="3248025"/>
              <a:ext cx="5041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Dongchen Han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Yining Li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Tianyu Li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Zixuan Cao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50913" y="3552825"/>
              <a:ext cx="6290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Ziming Wang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Jun Song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Yu Cheng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Bo Zheng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5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, Gao Huang</a:t>
              </a:r>
              <a:r>
                <a:rPr lang="en-US" sz="980" baseline="30000" dirty="0">
                  <a:solidFill>
                    <a:srgbClr val="DCE9F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980" baseline="30000" dirty="0">
                  <a:solidFill>
                    <a:srgbClr val="DCE9F8"/>
                  </a:solidFill>
                  <a:latin typeface="+mn-lt"/>
                  <a:ea typeface="+mn-ea"/>
                  <a:cs typeface="+mn-cs"/>
                </a:rPr>
                <a:t>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25156" y="3928110"/>
              <a:ext cx="3141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FC3EF"/>
                  </a:solidFill>
                  <a:latin typeface="+mn-lt"/>
                  <a:ea typeface="+mn-ea"/>
                  <a:cs typeface="+mn-cs"/>
                </a:rPr>
                <a:t>¹ Tsinghua University    ² Alibaba Group</a:t>
              </a:r>
            </a:p>
          </p:txBody>
        </p:sp>
      </p:grpSp>
      <p:grpSp>
        <p:nvGrpSpPr>
          <p:cNvPr id="19" name="cover-hook"/>
          <p:cNvGrpSpPr/>
          <p:nvPr/>
        </p:nvGrpSpPr>
        <p:grpSpPr>
          <a:xfrm>
            <a:off x="2214394" y="4578668"/>
            <a:ext cx="7763211" cy="264033"/>
            <a:chOff x="2214394" y="4578668"/>
            <a:chExt cx="7763211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2214394" y="4578668"/>
              <a:ext cx="7763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i="1" dirty="0">
                  <a:solidFill>
                    <a:srgbClr val="BDD7F2"/>
                  </a:solidFill>
                  <a:latin typeface="+mn-lt"/>
                  <a:ea typeface="+mn-ea"/>
                  <a:cs typeface="+mn-cs"/>
                </a:rPr>
                <a:t>A systematic empirical study of Test-Time Training designs for visual sequence modeling</a:t>
              </a:r>
            </a:p>
          </p:txBody>
        </p:sp>
      </p:grpSp>
      <p:grpSp>
        <p:nvGrpSpPr>
          <p:cNvPr id="26" name="cover-cvpr"/>
          <p:cNvGrpSpPr/>
          <p:nvPr/>
        </p:nvGrpSpPr>
        <p:grpSpPr>
          <a:xfrm>
            <a:off x="9677400" y="247650"/>
            <a:ext cx="2095500" cy="628650"/>
            <a:chOff x="9677400" y="247650"/>
            <a:chExt cx="2095500" cy="628650"/>
          </a:xfrm>
        </p:grpSpPr>
        <p:sp>
          <p:nvSpPr>
            <p:cNvPr id="24" name="Rectangle 24"/>
            <p:cNvSpPr/>
            <p:nvPr/>
          </p:nvSpPr>
          <p:spPr>
            <a:xfrm>
              <a:off x="9677400" y="247650"/>
              <a:ext cx="20955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8954" y="342900"/>
              <a:ext cx="1612392" cy="438150"/>
            </a:xfrm>
            <a:prstGeom prst="rect">
              <a:avLst/>
            </a:prstGeom>
          </p:spPr>
        </p:pic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1720FCCA-7FBB-F66F-1996-F8C9BF597143}"/>
              </a:ext>
            </a:extLst>
          </p:cNvPr>
          <p:cNvSpPr txBox="1"/>
          <p:nvPr/>
        </p:nvSpPr>
        <p:spPr>
          <a:xfrm>
            <a:off x="10265777" y="608715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汇报人：李祥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2026.9.28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52862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The “Long Sequence” Era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0" name="statement"/>
          <p:cNvGrpSpPr/>
          <p:nvPr/>
        </p:nvGrpSpPr>
        <p:grpSpPr>
          <a:xfrm>
            <a:off x="1262074" y="1136332"/>
            <a:ext cx="9667852" cy="322707"/>
            <a:chOff x="1262074" y="1136332"/>
            <a:chExt cx="966785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1262074" y="1136332"/>
              <a:ext cx="96678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Transformers have a </a:t>
              </a:r>
              <a:r>
                <a:rPr lang="en-US" sz="16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quadratic complexity O(N²)</a:t>
              </a:r>
              <a:r>
                <a:rPr lang="en-US" sz="16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with respect to the sequence length N.</a:t>
              </a:r>
            </a:p>
          </p:txBody>
        </p:sp>
      </p:grpSp>
      <p:grpSp>
        <p:nvGrpSpPr>
          <p:cNvPr id="14" name="domain-embodied"/>
          <p:cNvGrpSpPr/>
          <p:nvPr/>
        </p:nvGrpSpPr>
        <p:grpSpPr>
          <a:xfrm>
            <a:off x="838200" y="1619250"/>
            <a:ext cx="3048000" cy="2112645"/>
            <a:chOff x="838200" y="1619250"/>
            <a:chExt cx="3048000" cy="2112645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1619250"/>
              <a:ext cx="3048000" cy="1704975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838200" y="1619250"/>
              <a:ext cx="3048000" cy="1704975"/>
            </a:xfrm>
            <a:prstGeom prst="rect">
              <a:avLst/>
            </a:prstGeom>
            <a:noFill/>
            <a:ln w="9525">
              <a:solidFill>
                <a:srgbClr val="D8E4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90742" y="3438525"/>
              <a:ext cx="1542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Embodied AI</a:t>
              </a:r>
            </a:p>
          </p:txBody>
        </p:sp>
      </p:grpSp>
      <p:grpSp>
        <p:nvGrpSpPr>
          <p:cNvPr id="18" name="domain-office"/>
          <p:cNvGrpSpPr/>
          <p:nvPr/>
        </p:nvGrpSpPr>
        <p:grpSpPr>
          <a:xfrm>
            <a:off x="4572000" y="1619250"/>
            <a:ext cx="3048000" cy="2112645"/>
            <a:chOff x="4572000" y="1619250"/>
            <a:chExt cx="3048000" cy="211264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39388" y="1619250"/>
              <a:ext cx="2913225" cy="1704975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4572000" y="1619250"/>
              <a:ext cx="3048000" cy="1704975"/>
            </a:xfrm>
            <a:prstGeom prst="rect">
              <a:avLst/>
            </a:prstGeom>
            <a:noFill/>
            <a:ln w="9525">
              <a:solidFill>
                <a:srgbClr val="D8E4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67381" y="3438525"/>
              <a:ext cx="1057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AI Office</a:t>
              </a:r>
            </a:p>
          </p:txBody>
        </p:sp>
      </p:grpSp>
      <p:grpSp>
        <p:nvGrpSpPr>
          <p:cNvPr id="22" name="domain-video"/>
          <p:cNvGrpSpPr/>
          <p:nvPr/>
        </p:nvGrpSpPr>
        <p:grpSpPr>
          <a:xfrm>
            <a:off x="8305800" y="1619250"/>
            <a:ext cx="3048000" cy="2112645"/>
            <a:chOff x="8305800" y="1619250"/>
            <a:chExt cx="3048000" cy="2112645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05800" y="1619250"/>
              <a:ext cx="3048000" cy="1704975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8305800" y="1619250"/>
              <a:ext cx="3048000" cy="1704975"/>
            </a:xfrm>
            <a:prstGeom prst="rect">
              <a:avLst/>
            </a:prstGeom>
            <a:noFill/>
            <a:ln w="9525">
              <a:solidFill>
                <a:srgbClr val="D8E4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26585" y="3438525"/>
              <a:ext cx="2006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Video Generation</a:t>
              </a:r>
            </a:p>
          </p:txBody>
        </p:sp>
      </p:grpSp>
      <p:grpSp>
        <p:nvGrpSpPr>
          <p:cNvPr id="26" name="domain-coding"/>
          <p:cNvGrpSpPr/>
          <p:nvPr/>
        </p:nvGrpSpPr>
        <p:grpSpPr>
          <a:xfrm>
            <a:off x="2343150" y="3943350"/>
            <a:ext cx="3048000" cy="1903095"/>
            <a:chOff x="2343150" y="3943350"/>
            <a:chExt cx="3048000" cy="1903095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43150" y="3943350"/>
              <a:ext cx="3048000" cy="1495425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2343150" y="3943350"/>
              <a:ext cx="3048000" cy="1495425"/>
            </a:xfrm>
            <a:prstGeom prst="rect">
              <a:avLst/>
            </a:prstGeom>
            <a:noFill/>
            <a:ln w="9525">
              <a:solidFill>
                <a:srgbClr val="D8E4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96710" y="5553075"/>
              <a:ext cx="1540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</p:grpSp>
      <p:grpSp>
        <p:nvGrpSpPr>
          <p:cNvPr id="30" name="domain-driving"/>
          <p:cNvGrpSpPr/>
          <p:nvPr/>
        </p:nvGrpSpPr>
        <p:grpSpPr>
          <a:xfrm>
            <a:off x="6800850" y="3943350"/>
            <a:ext cx="3048000" cy="1903095"/>
            <a:chOff x="6800850" y="3943350"/>
            <a:chExt cx="3048000" cy="1903095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00850" y="3943350"/>
              <a:ext cx="3048000" cy="1495425"/>
            </a:xfrm>
            <a:prstGeom prst="rect">
              <a:avLst/>
            </a:prstGeom>
          </p:spPr>
        </p:pic>
        <p:sp>
          <p:nvSpPr>
            <p:cNvPr id="28" name="Rectangle 28"/>
            <p:cNvSpPr/>
            <p:nvPr/>
          </p:nvSpPr>
          <p:spPr>
            <a:xfrm>
              <a:off x="6800850" y="3943350"/>
              <a:ext cx="3048000" cy="1495425"/>
            </a:xfrm>
            <a:prstGeom prst="rect">
              <a:avLst/>
            </a:prstGeom>
            <a:noFill/>
            <a:ln w="9525">
              <a:solidFill>
                <a:srgbClr val="D8E4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58101" y="5553075"/>
              <a:ext cx="1333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Self-driving</a:t>
              </a:r>
            </a:p>
          </p:txBody>
        </p:sp>
      </p:grpSp>
      <p:grpSp>
        <p:nvGrpSpPr>
          <p:cNvPr id="34" name="deco-corner"/>
          <p:cNvGrpSpPr/>
          <p:nvPr/>
        </p:nvGrpSpPr>
        <p:grpSpPr>
          <a:xfrm>
            <a:off x="10496550" y="5391150"/>
            <a:ext cx="1695450" cy="1028700"/>
            <a:chOff x="10496550" y="5391150"/>
            <a:chExt cx="1695450" cy="1028700"/>
          </a:xfrm>
        </p:grpSpPr>
        <p:sp>
          <p:nvSpPr>
            <p:cNvPr id="31" name="Rectangle 31"/>
            <p:cNvSpPr/>
            <p:nvPr/>
          </p:nvSpPr>
          <p:spPr>
            <a:xfrm>
              <a:off x="10953750" y="5619750"/>
              <a:ext cx="800100" cy="800100"/>
            </a:xfrm>
            <a:prstGeom prst="rect">
              <a:avLst/>
            </a:prstGeom>
            <a:solidFill>
              <a:srgbClr val="E3EEF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1772900" y="5391150"/>
              <a:ext cx="419100" cy="41910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96550" y="6096000"/>
              <a:ext cx="323850" cy="32385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11575781" y="6590824"/>
            <a:ext cx="877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59737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 Different View of Attention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2" name="softmax-formula"/>
          <p:cNvGrpSpPr/>
          <p:nvPr/>
        </p:nvGrpSpPr>
        <p:grpSpPr>
          <a:xfrm>
            <a:off x="812474" y="1212532"/>
            <a:ext cx="3232802" cy="1019652"/>
            <a:chOff x="812474" y="1212532"/>
            <a:chExt cx="3232802" cy="1019652"/>
          </a:xfrm>
        </p:grpSpPr>
        <p:sp>
          <p:nvSpPr>
            <p:cNvPr id="9" name="TextBox 9"/>
            <p:cNvSpPr txBox="1"/>
            <p:nvPr/>
          </p:nvSpPr>
          <p:spPr>
            <a:xfrm>
              <a:off x="812474" y="1212532"/>
              <a:ext cx="32328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Softmax Attention </a:t>
              </a:r>
              <a:r>
                <a:rPr lang="en-US" sz="16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6492" y="1618298"/>
              <a:ext cx="18247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9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O = σ(QK</a:t>
              </a:r>
              <a:r>
                <a:rPr lang="en-US" sz="1280" i="1" baseline="30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⊤</a:t>
              </a:r>
              <a:r>
                <a:rPr lang="en-US" sz="19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)V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36082" y="2012156"/>
              <a:ext cx="1785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σ is the Softmax function</a:t>
              </a:r>
            </a:p>
          </p:txBody>
        </p:sp>
      </p:grpSp>
      <p:grpSp>
        <p:nvGrpSpPr>
          <p:cNvPr id="16" name="linear-formula"/>
          <p:cNvGrpSpPr/>
          <p:nvPr/>
        </p:nvGrpSpPr>
        <p:grpSpPr>
          <a:xfrm>
            <a:off x="4336405" y="1212532"/>
            <a:ext cx="3138189" cy="1019652"/>
            <a:chOff x="4336405" y="1212532"/>
            <a:chExt cx="3138189" cy="1019652"/>
          </a:xfrm>
        </p:grpSpPr>
        <p:sp>
          <p:nvSpPr>
            <p:cNvPr id="13" name="TextBox 13"/>
            <p:cNvSpPr txBox="1"/>
            <p:nvPr/>
          </p:nvSpPr>
          <p:spPr>
            <a:xfrm>
              <a:off x="4469273" y="1212532"/>
              <a:ext cx="2872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Linear Attention </a:t>
              </a:r>
              <a:r>
                <a:rPr lang="en-US" sz="16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6405" y="1618298"/>
              <a:ext cx="31381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O = (QK</a:t>
              </a:r>
              <a:r>
                <a:rPr lang="en-US" sz="1280" i="1" baseline="30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⊤</a:t>
              </a:r>
              <a:r>
                <a:rPr lang="en-US" sz="19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)V = Q(K</a:t>
              </a:r>
              <a:r>
                <a:rPr lang="en-US" sz="1280" i="1" baseline="30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⊤</a:t>
              </a:r>
              <a:r>
                <a:rPr lang="en-US" sz="19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V)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64107" y="2012156"/>
              <a:ext cx="1682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the associative property</a:t>
              </a:r>
            </a:p>
          </p:txBody>
        </p:sp>
      </p:grpSp>
      <p:grpSp>
        <p:nvGrpSpPr>
          <p:cNvPr id="20" name="figure-box"/>
          <p:cNvGrpSpPr/>
          <p:nvPr/>
        </p:nvGrpSpPr>
        <p:grpSpPr>
          <a:xfrm>
            <a:off x="533400" y="2476500"/>
            <a:ext cx="7239000" cy="2596753"/>
            <a:chOff x="533400" y="2476500"/>
            <a:chExt cx="7239000" cy="2596753"/>
          </a:xfrm>
        </p:grpSpPr>
        <p:sp>
          <p:nvSpPr>
            <p:cNvPr id="17" name="Rectangle 17"/>
            <p:cNvSpPr/>
            <p:nvPr/>
          </p:nvSpPr>
          <p:spPr>
            <a:xfrm>
              <a:off x="533400" y="2476500"/>
              <a:ext cx="7239000" cy="2286000"/>
            </a:xfrm>
            <a:prstGeom prst="roundRect">
              <a:avLst>
                <a:gd name="adj" fmla="val 4167"/>
              </a:avLst>
            </a:prstGeom>
            <a:solidFill>
              <a:srgbClr val="FBFDFF"/>
            </a:solidFill>
            <a:ln w="14288">
              <a:solidFill>
                <a:srgbClr val="C9D8EC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150" y="2686050"/>
              <a:ext cx="6667500" cy="18478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2003795" y="4889897"/>
              <a:ext cx="42982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Figure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(a)(b): attention as building a model with K, V (from the paper)</a:t>
              </a:r>
            </a:p>
          </p:txBody>
        </p:sp>
      </p:grpSp>
      <p:grpSp>
        <p:nvGrpSpPr>
          <p:cNvPr id="27" name="different-view-card"/>
          <p:cNvGrpSpPr/>
          <p:nvPr/>
        </p:nvGrpSpPr>
        <p:grpSpPr>
          <a:xfrm>
            <a:off x="8153400" y="2476500"/>
            <a:ext cx="3505200" cy="2286000"/>
            <a:chOff x="8153400" y="2476500"/>
            <a:chExt cx="35052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8153400" y="2476500"/>
              <a:ext cx="3505200" cy="2286000"/>
            </a:xfrm>
            <a:prstGeom prst="roundRect">
              <a:avLst>
                <a:gd name="adj" fmla="val 5833"/>
              </a:avLst>
            </a:prstGeom>
            <a:solidFill>
              <a:srgbClr val="EAF2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53185" y="2777490"/>
              <a:ext cx="23056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 Different View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496300" y="3276600"/>
              <a:ext cx="200025" cy="152400"/>
            </a:xfrm>
            <a:custGeom>
              <a:avLst/>
              <a:gdLst/>
              <a:ahLst/>
              <a:cxnLst/>
              <a:rect l="l" t="t" r="r" b="b"/>
              <a:pathLst>
                <a:path w="200025" h="152400">
                  <a:moveTo>
                    <a:pt x="0" y="76200"/>
                  </a:moveTo>
                  <a:lnTo>
                    <a:pt x="66675" y="152400"/>
                  </a:lnTo>
                  <a:lnTo>
                    <a:pt x="200025" y="0"/>
                  </a:lnTo>
                </a:path>
              </a:pathLst>
            </a:custGeom>
            <a:noFill/>
            <a:ln w="28575" cap="rnd">
              <a:solidFill>
                <a:srgbClr val="16A34A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74811" y="3294221"/>
              <a:ext cx="2230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Build a model with K, V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496300" y="3848100"/>
              <a:ext cx="200025" cy="152400"/>
            </a:xfrm>
            <a:custGeom>
              <a:avLst/>
              <a:gdLst/>
              <a:ahLst/>
              <a:cxnLst/>
              <a:rect l="l" t="t" r="r" b="b"/>
              <a:pathLst>
                <a:path w="200025" h="152400">
                  <a:moveTo>
                    <a:pt x="0" y="76200"/>
                  </a:moveTo>
                  <a:lnTo>
                    <a:pt x="66675" y="152400"/>
                  </a:lnTo>
                  <a:lnTo>
                    <a:pt x="200025" y="0"/>
                  </a:lnTo>
                </a:path>
              </a:pathLst>
            </a:custGeom>
            <a:noFill/>
            <a:ln w="28575" cap="rnd">
              <a:solidFill>
                <a:srgbClr val="16A34A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74811" y="3865721"/>
              <a:ext cx="1960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Apply the model to Q</a:t>
              </a:r>
            </a:p>
          </p:txBody>
        </p:sp>
      </p:grpSp>
      <p:grpSp>
        <p:nvGrpSpPr>
          <p:cNvPr id="30" name="refs"/>
          <p:cNvGrpSpPr/>
          <p:nvPr/>
        </p:nvGrpSpPr>
        <p:grpSpPr>
          <a:xfrm>
            <a:off x="528638" y="6170295"/>
            <a:ext cx="6988383" cy="385762"/>
            <a:chOff x="528638" y="6170295"/>
            <a:chExt cx="6988383" cy="385762"/>
          </a:xfrm>
        </p:grpSpPr>
        <p:sp>
          <p:nvSpPr>
            <p:cNvPr id="28" name="TextBox 28"/>
            <p:cNvSpPr txBox="1"/>
            <p:nvPr/>
          </p:nvSpPr>
          <p:spPr>
            <a:xfrm>
              <a:off x="528638" y="6170295"/>
              <a:ext cx="3461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i="1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1.</a:t>
              </a:r>
              <a:r>
                <a:rPr lang="en-US" sz="900" i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Vaswani et al. “Attention is all you need.” NeurIPS </a:t>
              </a:r>
              <a:r>
                <a:rPr lang="en-US" sz="900" i="1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2017.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638" y="6379845"/>
              <a:ext cx="6988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i="1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2.</a:t>
              </a:r>
              <a:r>
                <a:rPr lang="en-US" sz="900" i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Katharopoulos et al. “Transformers are RNNs: Fast autoregressive transformers with linear attention.” ICML </a:t>
              </a:r>
              <a:r>
                <a:rPr lang="en-US" sz="900" i="1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2020.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576729" y="6590824"/>
            <a:ext cx="868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59737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 Different View of Attention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recap-strip"/>
          <p:cNvGrpSpPr/>
          <p:nvPr/>
        </p:nvGrpSpPr>
        <p:grpSpPr>
          <a:xfrm>
            <a:off x="533400" y="990600"/>
            <a:ext cx="7239000" cy="1647825"/>
            <a:chOff x="533400" y="990600"/>
            <a:chExt cx="7239000" cy="1647825"/>
          </a:xfrm>
        </p:grpSpPr>
        <p:sp>
          <p:nvSpPr>
            <p:cNvPr id="9" name="Rectangle 9"/>
            <p:cNvSpPr/>
            <p:nvPr/>
          </p:nvSpPr>
          <p:spPr>
            <a:xfrm>
              <a:off x="533400" y="990600"/>
              <a:ext cx="7239000" cy="1600200"/>
            </a:xfrm>
            <a:prstGeom prst="roundRect">
              <a:avLst>
                <a:gd name="adj" fmla="val 5952"/>
              </a:avLst>
            </a:prstGeom>
            <a:solidFill>
              <a:srgbClr val="F6F9FD"/>
            </a:solidFill>
            <a:ln w="9525">
              <a:solidFill>
                <a:srgbClr val="DDE7F3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>
              <a:fillRect/>
            </a:stretch>
          </p:blipFill>
          <p:spPr>
            <a:xfrm>
              <a:off x="822885" y="1162050"/>
              <a:ext cx="5326529" cy="1476375"/>
            </a:xfrm>
            <a:prstGeom prst="rect">
              <a:avLst/>
            </a:prstGeom>
          </p:spPr>
        </p:pic>
      </p:grpSp>
      <p:grpSp>
        <p:nvGrpSpPr>
          <p:cNvPr id="16" name="recap-view"/>
          <p:cNvGrpSpPr/>
          <p:nvPr/>
        </p:nvGrpSpPr>
        <p:grpSpPr>
          <a:xfrm>
            <a:off x="8153400" y="990600"/>
            <a:ext cx="3505200" cy="1600200"/>
            <a:chOff x="8153400" y="990600"/>
            <a:chExt cx="3505200" cy="1600200"/>
          </a:xfrm>
        </p:grpSpPr>
        <p:sp>
          <p:nvSpPr>
            <p:cNvPr id="12" name="Rectangle 12"/>
            <p:cNvSpPr/>
            <p:nvPr/>
          </p:nvSpPr>
          <p:spPr>
            <a:xfrm>
              <a:off x="8153400" y="990600"/>
              <a:ext cx="3505200" cy="1600200"/>
            </a:xfrm>
            <a:prstGeom prst="roundRect">
              <a:avLst>
                <a:gd name="adj" fmla="val 8333"/>
              </a:avLst>
            </a:prstGeom>
            <a:solidFill>
              <a:srgbClr val="EAF2FC">
                <a:alpha val="3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49253" y="1212532"/>
              <a:ext cx="21134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4355E">
                      <a:alphaMod val="35000"/>
                    </a:srgbClr>
                  </a:solidFill>
                  <a:latin typeface="+mn-lt"/>
                  <a:ea typeface="+mn-ea"/>
                  <a:cs typeface="+mn-cs"/>
                </a:rPr>
                <a:t>A Different View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5540" y="1625918"/>
              <a:ext cx="2120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i="1" dirty="0">
                  <a:solidFill>
                    <a:srgbClr val="24303F">
                      <a:alphaMod val="35000"/>
                    </a:srgbClr>
                  </a:solidFill>
                  <a:latin typeface="+mn-lt"/>
                  <a:ea typeface="+mn-ea"/>
                  <a:cs typeface="+mn-cs"/>
                </a:rPr>
                <a:t>Build a model with K, 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4279" y="1949768"/>
              <a:ext cx="18634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i="1" dirty="0">
                  <a:solidFill>
                    <a:srgbClr val="24303F">
                      <a:alphaMod val="35000"/>
                    </a:srgbClr>
                  </a:solidFill>
                  <a:latin typeface="+mn-lt"/>
                  <a:ea typeface="+mn-ea"/>
                  <a:cs typeface="+mn-cs"/>
                </a:rPr>
                <a:t>Apply the model to Q</a:t>
              </a:r>
            </a:p>
          </p:txBody>
        </p:sp>
      </p:grpSp>
      <p:grpSp>
        <p:nvGrpSpPr>
          <p:cNvPr id="18" name="question"/>
          <p:cNvGrpSpPr/>
          <p:nvPr/>
        </p:nvGrpSpPr>
        <p:grpSpPr>
          <a:xfrm>
            <a:off x="848106" y="2929890"/>
            <a:ext cx="4816729" cy="352044"/>
            <a:chOff x="848106" y="2929890"/>
            <a:chExt cx="4816729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848106" y="2929890"/>
              <a:ext cx="4816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i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What’s the fundamental difference?</a:t>
              </a:r>
            </a:p>
          </p:txBody>
        </p:sp>
      </p:grpSp>
      <p:grpSp>
        <p:nvGrpSpPr>
          <p:cNvPr id="24" name="col-no-compression"/>
          <p:cNvGrpSpPr/>
          <p:nvPr/>
        </p:nvGrpSpPr>
        <p:grpSpPr>
          <a:xfrm>
            <a:off x="1420749" y="3449479"/>
            <a:ext cx="2189226" cy="1114044"/>
            <a:chOff x="1420749" y="3449479"/>
            <a:chExt cx="2189226" cy="1114044"/>
          </a:xfrm>
        </p:grpSpPr>
        <p:sp>
          <p:nvSpPr>
            <p:cNvPr id="19" name="TextBox 19"/>
            <p:cNvSpPr txBox="1"/>
            <p:nvPr/>
          </p:nvSpPr>
          <p:spPr>
            <a:xfrm>
              <a:off x="1420749" y="3449479"/>
              <a:ext cx="20008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No Compression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1511" y="3884771"/>
              <a:ext cx="914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Efficiency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3390900" y="39052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133350"/>
                  </a:lnTo>
                  <a:moveTo>
                    <a:pt x="133350" y="0"/>
                  </a:moveTo>
                  <a:lnTo>
                    <a:pt x="0" y="133350"/>
                  </a:lnTo>
                </a:path>
              </a:pathLst>
            </a:custGeom>
            <a:solidFill>
              <a:srgbClr val="000000"/>
            </a:solidFill>
            <a:ln w="33338" cap="rnd">
              <a:solidFill>
                <a:srgbClr val="DC262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21511" y="4284821"/>
              <a:ext cx="1388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Expressiveness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390900" y="4210050"/>
              <a:ext cx="219075" cy="180975"/>
            </a:xfrm>
            <a:custGeom>
              <a:avLst/>
              <a:gdLst/>
              <a:ahLst/>
              <a:cxnLst/>
              <a:rect l="l" t="t" r="r" b="b"/>
              <a:pathLst>
                <a:path w="219075" h="180975">
                  <a:moveTo>
                    <a:pt x="0" y="95250"/>
                  </a:moveTo>
                  <a:lnTo>
                    <a:pt x="66675" y="180975"/>
                  </a:lnTo>
                  <a:lnTo>
                    <a:pt x="219075" y="0"/>
                  </a:lnTo>
                </a:path>
              </a:pathLst>
            </a:custGeom>
            <a:noFill/>
            <a:ln w="33338" cap="rnd">
              <a:solidFill>
                <a:srgbClr val="16A34A"/>
              </a:solidFill>
              <a:round/>
            </a:ln>
          </p:spPr>
        </p:sp>
      </p:grpSp>
      <p:grpSp>
        <p:nvGrpSpPr>
          <p:cNvPr id="30" name="col-coarse-compression"/>
          <p:cNvGrpSpPr/>
          <p:nvPr/>
        </p:nvGrpSpPr>
        <p:grpSpPr>
          <a:xfrm>
            <a:off x="4849749" y="3449479"/>
            <a:ext cx="2464284" cy="1114044"/>
            <a:chOff x="4849749" y="3449479"/>
            <a:chExt cx="2464284" cy="1114044"/>
          </a:xfrm>
        </p:grpSpPr>
        <p:sp>
          <p:nvSpPr>
            <p:cNvPr id="25" name="TextBox 25"/>
            <p:cNvSpPr txBox="1"/>
            <p:nvPr/>
          </p:nvSpPr>
          <p:spPr>
            <a:xfrm>
              <a:off x="4849749" y="3449479"/>
              <a:ext cx="24642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Coarse Compression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50511" y="3884771"/>
              <a:ext cx="914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Efficiency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819900" y="3895725"/>
              <a:ext cx="219075" cy="180975"/>
            </a:xfrm>
            <a:custGeom>
              <a:avLst/>
              <a:gdLst/>
              <a:ahLst/>
              <a:cxnLst/>
              <a:rect l="l" t="t" r="r" b="b"/>
              <a:pathLst>
                <a:path w="219075" h="180975">
                  <a:moveTo>
                    <a:pt x="0" y="95250"/>
                  </a:moveTo>
                  <a:lnTo>
                    <a:pt x="66675" y="180975"/>
                  </a:lnTo>
                  <a:lnTo>
                    <a:pt x="219075" y="0"/>
                  </a:lnTo>
                </a:path>
              </a:pathLst>
            </a:custGeom>
            <a:noFill/>
            <a:ln w="33338" cap="rnd">
              <a:solidFill>
                <a:srgbClr val="16A34A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50511" y="4284821"/>
              <a:ext cx="1388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Expressiveness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819900" y="43053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133350"/>
                  </a:lnTo>
                  <a:moveTo>
                    <a:pt x="133350" y="0"/>
                  </a:moveTo>
                  <a:lnTo>
                    <a:pt x="0" y="133350"/>
                  </a:lnTo>
                </a:path>
              </a:pathLst>
            </a:custGeom>
            <a:solidFill>
              <a:srgbClr val="000000"/>
            </a:solidFill>
            <a:ln w="33338" cap="rnd">
              <a:solidFill>
                <a:srgbClr val="DC2626"/>
              </a:solidFill>
            </a:ln>
          </p:spPr>
        </p:sp>
      </p:grpSp>
      <p:grpSp>
        <p:nvGrpSpPr>
          <p:cNvPr id="33" name="compression-callout"/>
          <p:cNvGrpSpPr/>
          <p:nvPr/>
        </p:nvGrpSpPr>
        <p:grpSpPr>
          <a:xfrm>
            <a:off x="8153400" y="3314700"/>
            <a:ext cx="3505200" cy="1123950"/>
            <a:chOff x="8153400" y="3314700"/>
            <a:chExt cx="3505200" cy="1123950"/>
          </a:xfrm>
        </p:grpSpPr>
        <p:sp>
          <p:nvSpPr>
            <p:cNvPr id="31" name="Rectangle 31"/>
            <p:cNvSpPr/>
            <p:nvPr/>
          </p:nvSpPr>
          <p:spPr>
            <a:xfrm>
              <a:off x="8153400" y="3314700"/>
              <a:ext cx="3505200" cy="1123950"/>
            </a:xfrm>
            <a:prstGeom prst="roundRect">
              <a:avLst>
                <a:gd name="adj" fmla="val 11864"/>
              </a:avLst>
            </a:prstGeom>
            <a:solidFill>
              <a:srgbClr val="EAF2FC"/>
            </a:solidFill>
            <a:ln w="19050">
              <a:solidFill>
                <a:srgbClr val="1D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65704" y="3759994"/>
              <a:ext cx="34805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 Compression Problem</a:t>
              </a:r>
            </a:p>
          </p:txBody>
        </p:sp>
      </p:grpSp>
      <p:grpSp>
        <p:nvGrpSpPr>
          <p:cNvPr id="36" name="bottom-note"/>
          <p:cNvGrpSpPr/>
          <p:nvPr/>
        </p:nvGrpSpPr>
        <p:grpSpPr>
          <a:xfrm>
            <a:off x="851154" y="5147310"/>
            <a:ext cx="9248483" cy="577596"/>
            <a:chOff x="851154" y="5147310"/>
            <a:chExt cx="9248483" cy="577596"/>
          </a:xfrm>
        </p:grpSpPr>
        <p:sp>
          <p:nvSpPr>
            <p:cNvPr id="34" name="TextBox 34"/>
            <p:cNvSpPr txBox="1"/>
            <p:nvPr/>
          </p:nvSpPr>
          <p:spPr>
            <a:xfrm>
              <a:off x="851154" y="5147310"/>
              <a:ext cx="7717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Softmax attention keeps the </a:t>
              </a:r>
              <a:r>
                <a:rPr lang="en-US" sz="12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uncompressed</a:t>
              </a:r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K, V — expressive, but the N-width MLP costs O(N²).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154" y="5490210"/>
              <a:ext cx="9248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Linear attention compresses K, V into a </a:t>
              </a:r>
              <a:r>
                <a:rPr lang="en-US" sz="12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d×d linear state</a:t>
              </a:r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— O(N), but the naive K</a:t>
              </a:r>
              <a:r>
                <a:rPr lang="en-US" sz="820" baseline="300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⊤</a:t>
              </a:r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 compression discards information.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574903" y="6590824"/>
            <a:ext cx="886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52078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Compression by Learning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lead"/>
          <p:cNvGrpSpPr/>
          <p:nvPr/>
        </p:nvGrpSpPr>
        <p:grpSpPr>
          <a:xfrm>
            <a:off x="3672079" y="1238250"/>
            <a:ext cx="4847842" cy="862584"/>
            <a:chOff x="3672079" y="1238250"/>
            <a:chExt cx="4847842" cy="862584"/>
          </a:xfrm>
        </p:grpSpPr>
        <p:sp>
          <p:nvSpPr>
            <p:cNvPr id="9" name="TextBox 9"/>
            <p:cNvSpPr txBox="1"/>
            <p:nvPr/>
          </p:nvSpPr>
          <p:spPr>
            <a:xfrm>
              <a:off x="4407455" y="1238250"/>
              <a:ext cx="337709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Deep Learning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72079" y="1748790"/>
              <a:ext cx="4847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The most powerful compression algorithm</a:t>
              </a:r>
            </a:p>
          </p:txBody>
        </p:sp>
      </p:grpSp>
      <p:grpSp>
        <p:nvGrpSpPr>
          <p:cNvPr id="13" name="divider"/>
          <p:cNvGrpSpPr/>
          <p:nvPr/>
        </p:nvGrpSpPr>
        <p:grpSpPr>
          <a:xfrm>
            <a:off x="6096000" y="2381250"/>
            <a:ext cx="9525" cy="2381250"/>
            <a:chOff x="6096000" y="2381250"/>
            <a:chExt cx="9525" cy="2381250"/>
          </a:xfrm>
        </p:grpSpPr>
        <p:sp>
          <p:nvSpPr>
            <p:cNvPr id="12" name="Line 12"/>
            <p:cNvSpPr/>
            <p:nvPr/>
          </p:nvSpPr>
          <p:spPr>
            <a:xfrm>
              <a:off x="6096000" y="23812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9050">
              <a:solidFill>
                <a:srgbClr val="C9D8EC"/>
              </a:solidFill>
              <a:custDash>
                <a:ds d="300000" sp="300000"/>
              </a:custDash>
            </a:ln>
          </p:spPr>
        </p:sp>
      </p:grpSp>
      <p:grpSp>
        <p:nvGrpSpPr>
          <p:cNvPr id="41" name="normal-training"/>
          <p:cNvGrpSpPr/>
          <p:nvPr/>
        </p:nvGrpSpPr>
        <p:grpSpPr>
          <a:xfrm>
            <a:off x="497345" y="2419350"/>
            <a:ext cx="4674730" cy="2099501"/>
            <a:chOff x="497345" y="2419350"/>
            <a:chExt cx="4674730" cy="2099501"/>
          </a:xfrm>
        </p:grpSpPr>
        <p:sp>
          <p:nvSpPr>
            <p:cNvPr id="14" name="Rectangle 14"/>
            <p:cNvSpPr/>
            <p:nvPr/>
          </p:nvSpPr>
          <p:spPr>
            <a:xfrm>
              <a:off x="1714500" y="2419350"/>
              <a:ext cx="2381250" cy="438150"/>
            </a:xfrm>
            <a:prstGeom prst="roundRect">
              <a:avLst>
                <a:gd name="adj" fmla="val 50000"/>
              </a:avLst>
            </a:prstGeom>
            <a:solidFill>
              <a:srgbClr val="F1F5FA"/>
            </a:solidFill>
            <a:ln w="14288">
              <a:solidFill>
                <a:srgbClr val="C9D8E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95714" y="2551271"/>
              <a:ext cx="1818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Normal Training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55700" y="3457575"/>
              <a:ext cx="355599" cy="400050"/>
              <a:chOff x="1155700" y="3457575"/>
              <a:chExt cx="355599" cy="4000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55700" y="3457575"/>
                <a:ext cx="355599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55599" h="133350">
                    <a:moveTo>
                      <a:pt x="0" y="66675"/>
                    </a:moveTo>
                    <a:cubicBezTo>
                      <a:pt x="0" y="103498"/>
                      <a:pt x="79604" y="133350"/>
                      <a:pt x="177800" y="133350"/>
                    </a:cubicBezTo>
                    <a:cubicBezTo>
                      <a:pt x="275996" y="133350"/>
                      <a:pt x="355599" y="103498"/>
                      <a:pt x="355599" y="66675"/>
                    </a:cubicBezTo>
                    <a:cubicBezTo>
                      <a:pt x="355599" y="29851"/>
                      <a:pt x="275996" y="0"/>
                      <a:pt x="177800" y="0"/>
                    </a:cubicBezTo>
                    <a:cubicBezTo>
                      <a:pt x="79604" y="0"/>
                      <a:pt x="0" y="29851"/>
                      <a:pt x="0" y="66675"/>
                    </a:cubicBez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55700" y="3524250"/>
                <a:ext cx="355599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5599" h="200025">
                    <a:moveTo>
                      <a:pt x="0" y="0"/>
                    </a:moveTo>
                    <a:lnTo>
                      <a:pt x="0" y="133350"/>
                    </a:lnTo>
                    <a:cubicBezTo>
                      <a:pt x="0" y="170173"/>
                      <a:pt x="79604" y="200025"/>
                      <a:pt x="177800" y="200025"/>
                    </a:cubicBezTo>
                    <a:cubicBezTo>
                      <a:pt x="275996" y="200025"/>
                      <a:pt x="355599" y="170173"/>
                      <a:pt x="355599" y="133350"/>
                    </a:cubicBezTo>
                    <a:lnTo>
                      <a:pt x="355599" y="0"/>
                    </a:ln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55700" y="3657600"/>
                <a:ext cx="355599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5599" h="200025">
                    <a:moveTo>
                      <a:pt x="0" y="0"/>
                    </a:moveTo>
                    <a:lnTo>
                      <a:pt x="0" y="133350"/>
                    </a:lnTo>
                    <a:cubicBezTo>
                      <a:pt x="0" y="170173"/>
                      <a:pt x="79604" y="200025"/>
                      <a:pt x="177800" y="200025"/>
                    </a:cubicBezTo>
                    <a:cubicBezTo>
                      <a:pt x="275996" y="200025"/>
                      <a:pt x="355599" y="170173"/>
                      <a:pt x="355599" y="133350"/>
                    </a:cubicBezTo>
                    <a:lnTo>
                      <a:pt x="355599" y="0"/>
                    </a:ln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97345" y="4254818"/>
              <a:ext cx="167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Trillions of Data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381250" y="3600450"/>
              <a:ext cx="1238250" cy="400050"/>
            </a:xfrm>
            <a:prstGeom prst="rightArrow">
              <a:avLst/>
            </a:prstGeom>
            <a:solidFill>
              <a:srgbClr val="1D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83113" y="3364706"/>
              <a:ext cx="634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Training</a:t>
              </a:r>
            </a:p>
          </p:txBody>
        </p:sp>
        <p:grpSp>
          <p:nvGrpSpPr>
            <p:cNvPr id="39" name="model-graph"/>
            <p:cNvGrpSpPr/>
            <p:nvPr/>
          </p:nvGrpSpPr>
          <p:grpSpPr>
            <a:xfrm>
              <a:off x="4124325" y="3362325"/>
              <a:ext cx="1047750" cy="571500"/>
              <a:chOff x="4124325" y="3362325"/>
              <a:chExt cx="1047750" cy="571500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4191000" y="3429000"/>
                <a:ext cx="3048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09550">
                    <a:moveTo>
                      <a:pt x="0" y="2095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4191000" y="3638550"/>
                <a:ext cx="304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28600">
                    <a:moveTo>
                      <a:pt x="0" y="0"/>
                    </a:moveTo>
                    <a:lnTo>
                      <a:pt x="304800" y="22860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4191000" y="3429000"/>
                <a:ext cx="3048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61950">
                    <a:moveTo>
                      <a:pt x="0" y="3619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4191000" y="3790950"/>
                <a:ext cx="304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76200">
                    <a:moveTo>
                      <a:pt x="0" y="0"/>
                    </a:moveTo>
                    <a:lnTo>
                      <a:pt x="304800" y="7620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4495800" y="34290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0"/>
                    </a:moveTo>
                    <a:lnTo>
                      <a:pt x="304800" y="11430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4495800" y="3429000"/>
                <a:ext cx="3048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42900">
                    <a:moveTo>
                      <a:pt x="0" y="0"/>
                    </a:moveTo>
                    <a:lnTo>
                      <a:pt x="304800" y="34290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4495800" y="3543300"/>
                <a:ext cx="3048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23850">
                    <a:moveTo>
                      <a:pt x="0" y="3238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4495800" y="377190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0" y="952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4800600" y="35433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304800" y="17145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4800600" y="3714750"/>
                <a:ext cx="3048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57150">
                    <a:moveTo>
                      <a:pt x="0" y="571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B7EA6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124325" y="364807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B7EA6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4429125" y="336232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B7EA6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429125" y="380047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B7EA6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733925" y="347662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B7EA6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733925" y="370522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B7EA6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038725" y="364807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B7EA6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336151" y="4254818"/>
              <a:ext cx="662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Model</a:t>
              </a:r>
            </a:p>
          </p:txBody>
        </p:sp>
      </p:grpSp>
      <p:grpSp>
        <p:nvGrpSpPr>
          <p:cNvPr id="71" name="test-time-training"/>
          <p:cNvGrpSpPr/>
          <p:nvPr/>
        </p:nvGrpSpPr>
        <p:grpSpPr>
          <a:xfrm>
            <a:off x="6268458" y="2419350"/>
            <a:ext cx="4667172" cy="2099501"/>
            <a:chOff x="6268458" y="2419350"/>
            <a:chExt cx="4667172" cy="2099501"/>
          </a:xfrm>
        </p:grpSpPr>
        <p:sp>
          <p:nvSpPr>
            <p:cNvPr id="42" name="Rectangle 42"/>
            <p:cNvSpPr/>
            <p:nvPr/>
          </p:nvSpPr>
          <p:spPr>
            <a:xfrm>
              <a:off x="6858000" y="2419350"/>
              <a:ext cx="2762250" cy="438150"/>
            </a:xfrm>
            <a:prstGeom prst="roundRect">
              <a:avLst>
                <a:gd name="adj" fmla="val 50000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93255" y="2551271"/>
              <a:ext cx="20917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Test-Time Training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702425" y="3457575"/>
              <a:ext cx="311150" cy="400049"/>
              <a:chOff x="6702425" y="3457575"/>
              <a:chExt cx="311150" cy="40004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902450" y="345757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0" y="88900"/>
                    </a:lnTo>
                    <a:cubicBezTo>
                      <a:pt x="0" y="101174"/>
                      <a:pt x="9950" y="111125"/>
                      <a:pt x="22225" y="111125"/>
                    </a:cubicBezTo>
                    <a:lnTo>
                      <a:pt x="111125" y="111125"/>
                    </a:ln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02425" y="3457575"/>
                <a:ext cx="311150" cy="400049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00049">
                    <a:moveTo>
                      <a:pt x="266700" y="400049"/>
                    </a:moveTo>
                    <a:lnTo>
                      <a:pt x="44450" y="400049"/>
                    </a:lnTo>
                    <a:cubicBezTo>
                      <a:pt x="19901" y="400049"/>
                      <a:pt x="0" y="380149"/>
                      <a:pt x="0" y="355599"/>
                    </a:cubicBez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200025" y="0"/>
                    </a:lnTo>
                    <a:lnTo>
                      <a:pt x="311150" y="111125"/>
                    </a:lnTo>
                    <a:lnTo>
                      <a:pt x="311150" y="355599"/>
                    </a:lnTo>
                    <a:cubicBezTo>
                      <a:pt x="311150" y="380149"/>
                      <a:pt x="291249" y="400049"/>
                      <a:pt x="266700" y="400049"/>
                    </a:cubicBez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91325" y="35909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91325" y="36798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91325" y="3768724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44450">
                <a:solidFill>
                  <a:srgbClr val="3E7CC0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268458" y="4254818"/>
              <a:ext cx="1293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Context Info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001000" y="3600450"/>
              <a:ext cx="1238250" cy="400050"/>
            </a:xfrm>
            <a:prstGeom prst="rightArrow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78370" y="3364706"/>
              <a:ext cx="1083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Inner Training</a:t>
              </a:r>
            </a:p>
          </p:txBody>
        </p:sp>
        <p:grpSp>
          <p:nvGrpSpPr>
            <p:cNvPr id="69" name="inner-model-graph"/>
            <p:cNvGrpSpPr/>
            <p:nvPr/>
          </p:nvGrpSpPr>
          <p:grpSpPr>
            <a:xfrm>
              <a:off x="9744075" y="3362325"/>
              <a:ext cx="1047750" cy="571500"/>
              <a:chOff x="9744075" y="3362325"/>
              <a:chExt cx="1047750" cy="571500"/>
            </a:xfrm>
          </p:grpSpPr>
          <p:sp>
            <p:nvSpPr>
              <p:cNvPr id="53" name="Line 53"/>
              <p:cNvSpPr/>
              <p:nvPr/>
            </p:nvSpPr>
            <p:spPr>
              <a:xfrm>
                <a:off x="9810750" y="3429000"/>
                <a:ext cx="3048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09550">
                    <a:moveTo>
                      <a:pt x="0" y="2095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9810750" y="3638550"/>
                <a:ext cx="304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28600">
                    <a:moveTo>
                      <a:pt x="0" y="0"/>
                    </a:moveTo>
                    <a:lnTo>
                      <a:pt x="304800" y="22860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9810750" y="3429000"/>
                <a:ext cx="3048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61950">
                    <a:moveTo>
                      <a:pt x="0" y="3619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9810750" y="3790950"/>
                <a:ext cx="304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76200">
                    <a:moveTo>
                      <a:pt x="0" y="0"/>
                    </a:moveTo>
                    <a:lnTo>
                      <a:pt x="304800" y="7620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10115550" y="34290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0"/>
                    </a:moveTo>
                    <a:lnTo>
                      <a:pt x="304800" y="11430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10115550" y="3429000"/>
                <a:ext cx="3048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42900">
                    <a:moveTo>
                      <a:pt x="0" y="0"/>
                    </a:moveTo>
                    <a:lnTo>
                      <a:pt x="304800" y="34290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10115550" y="3543300"/>
                <a:ext cx="3048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23850">
                    <a:moveTo>
                      <a:pt x="0" y="3238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10115550" y="377190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0" y="952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10420350" y="35433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304800" y="17145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10420350" y="3714750"/>
                <a:ext cx="3048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57150">
                    <a:moveTo>
                      <a:pt x="0" y="5715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1D5FA8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744075" y="3648075"/>
                <a:ext cx="133350" cy="133350"/>
              </a:xfrm>
              <a:prstGeom prst="ellipse">
                <a:avLst/>
              </a:prstGeom>
              <a:solidFill>
                <a:srgbClr val="EAF2FC"/>
              </a:solidFill>
              <a:ln w="19050">
                <a:solidFill>
                  <a:srgbClr val="1D5FA8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10048875" y="3362325"/>
                <a:ext cx="133350" cy="133350"/>
              </a:xfrm>
              <a:prstGeom prst="ellipse">
                <a:avLst/>
              </a:prstGeom>
              <a:solidFill>
                <a:srgbClr val="EAF2FC"/>
              </a:solidFill>
              <a:ln w="19050">
                <a:solidFill>
                  <a:srgbClr val="1D5FA8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10048875" y="3800475"/>
                <a:ext cx="133350" cy="133350"/>
              </a:xfrm>
              <a:prstGeom prst="ellipse">
                <a:avLst/>
              </a:prstGeom>
              <a:solidFill>
                <a:srgbClr val="EAF2FC"/>
              </a:solidFill>
              <a:ln w="19050">
                <a:solidFill>
                  <a:srgbClr val="1D5FA8"/>
                </a:solidFill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10353675" y="3476625"/>
                <a:ext cx="133350" cy="133350"/>
              </a:xfrm>
              <a:prstGeom prst="ellipse">
                <a:avLst/>
              </a:prstGeom>
              <a:solidFill>
                <a:srgbClr val="EAF2FC"/>
              </a:solidFill>
              <a:ln w="19050">
                <a:solidFill>
                  <a:srgbClr val="1D5FA8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10353675" y="3705225"/>
                <a:ext cx="133350" cy="133350"/>
              </a:xfrm>
              <a:prstGeom prst="ellipse">
                <a:avLst/>
              </a:prstGeom>
              <a:solidFill>
                <a:srgbClr val="EAF2FC"/>
              </a:solidFill>
              <a:ln w="19050">
                <a:solidFill>
                  <a:srgbClr val="1D5FA8"/>
                </a:solidFill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10658475" y="3648075"/>
                <a:ext cx="133350" cy="133350"/>
              </a:xfrm>
              <a:prstGeom prst="ellipse">
                <a:avLst/>
              </a:prstGeom>
              <a:solidFill>
                <a:srgbClr val="EAF2FC"/>
              </a:solidFill>
              <a:ln w="19050">
                <a:solidFill>
                  <a:srgbClr val="1D5FA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9638369" y="4254818"/>
              <a:ext cx="1297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Model</a:t>
              </a:r>
            </a:p>
          </p:txBody>
        </p:sp>
      </p:grpSp>
      <p:grpSp>
        <p:nvGrpSpPr>
          <p:cNvPr id="73" name="bottom-note"/>
          <p:cNvGrpSpPr/>
          <p:nvPr/>
        </p:nvGrpSpPr>
        <p:grpSpPr>
          <a:xfrm>
            <a:off x="2767739" y="5063014"/>
            <a:ext cx="6656523" cy="249364"/>
            <a:chOff x="2767739" y="5063014"/>
            <a:chExt cx="6656523" cy="249364"/>
          </a:xfrm>
        </p:grpSpPr>
        <p:sp>
          <p:nvSpPr>
            <p:cNvPr id="72" name="TextBox 72"/>
            <p:cNvSpPr txBox="1"/>
            <p:nvPr/>
          </p:nvSpPr>
          <p:spPr>
            <a:xfrm>
              <a:off x="2767739" y="5063014"/>
              <a:ext cx="6656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TTT treats each context as a small training set — compression becomes learning.</a:t>
              </a:r>
            </a:p>
          </p:txBody>
        </p:sp>
      </p:grpSp>
      <p:grpSp>
        <p:nvGrpSpPr>
          <p:cNvPr id="77" name="deco-corner"/>
          <p:cNvGrpSpPr/>
          <p:nvPr/>
        </p:nvGrpSpPr>
        <p:grpSpPr>
          <a:xfrm>
            <a:off x="10496550" y="5391150"/>
            <a:ext cx="1695450" cy="1028700"/>
            <a:chOff x="10496550" y="5391150"/>
            <a:chExt cx="1695450" cy="1028700"/>
          </a:xfrm>
        </p:grpSpPr>
        <p:sp>
          <p:nvSpPr>
            <p:cNvPr id="74" name="Rectangle 74"/>
            <p:cNvSpPr/>
            <p:nvPr/>
          </p:nvSpPr>
          <p:spPr>
            <a:xfrm>
              <a:off x="10953750" y="5619750"/>
              <a:ext cx="800100" cy="800100"/>
            </a:xfrm>
            <a:prstGeom prst="rect">
              <a:avLst/>
            </a:prstGeom>
            <a:solidFill>
              <a:srgbClr val="E3EEF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1772900" y="5391150"/>
              <a:ext cx="419100" cy="41910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496550" y="6096000"/>
              <a:ext cx="323850" cy="32385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</p:grpSp>
      <p:sp>
        <p:nvSpPr>
          <p:cNvPr id="78" name="TextBox 78"/>
          <p:cNvSpPr txBox="1"/>
          <p:nvPr/>
        </p:nvSpPr>
        <p:spPr>
          <a:xfrm>
            <a:off x="11580005" y="6590824"/>
            <a:ext cx="835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5</a:t>
            </a:r>
          </a:p>
        </p:txBody>
      </p:sp>
      <p:sp>
        <p:nvSpPr>
          <p:cNvPr id="79" name="TextBox 22"/>
          <p:cNvSpPr txBox="1"/>
          <p:nvPr/>
        </p:nvSpPr>
        <p:spPr>
          <a:xfrm>
            <a:off x="528638" y="6170295"/>
            <a:ext cx="5603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i="1" dirty="0">
                <a:solidFill>
                  <a:srgbClr val="8A97A8"/>
                </a:solidFill>
                <a:latin typeface="Times New Roman"/>
                <a:ea typeface="+mn-ea"/>
                <a:cs typeface="+mn-cs"/>
              </a:rPr>
              <a:t>1.</a:t>
            </a:r>
            <a:r>
              <a:rPr lang="en-US" sz="900" i="1" dirty="0">
                <a:solidFill>
                  <a:srgbClr val="8A97A8"/>
                </a:solidFill>
                <a:latin typeface="+mn-lt"/>
                <a:ea typeface="+mn-ea"/>
                <a:cs typeface="+mn-cs"/>
              </a:rPr>
              <a:t> Sun et al. “Learning to (learn at test time): RNNs with expressive hidden states.” ICML </a:t>
            </a:r>
            <a:r>
              <a:rPr lang="en-US" sz="900" i="1" dirty="0">
                <a:solidFill>
                  <a:srgbClr val="8A97A8"/>
                </a:solidFill>
                <a:latin typeface="Times New Roman"/>
                <a:ea typeface="+mn-ea"/>
                <a:cs typeface="+mn-cs"/>
              </a:rPr>
              <a:t>2025.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39771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Test-Time Training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0" name="lead"/>
          <p:cNvGrpSpPr/>
          <p:nvPr/>
        </p:nvGrpSpPr>
        <p:grpSpPr>
          <a:xfrm>
            <a:off x="848868" y="1079182"/>
            <a:ext cx="7088725" cy="322707"/>
            <a:chOff x="848868" y="1079182"/>
            <a:chExt cx="7088725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848868" y="1079182"/>
              <a:ext cx="70887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Replicate the successes of </a:t>
              </a:r>
              <a:r>
                <a:rPr lang="en-US" sz="1650" b="1" i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deep learning</a:t>
              </a:r>
              <a:r>
                <a:rPr lang="en-US" sz="16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in </a:t>
              </a:r>
              <a:r>
                <a:rPr lang="en-US" sz="1650" b="1" i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sequence modeling</a:t>
              </a:r>
            </a:p>
          </p:txBody>
        </p:sp>
      </p:grpSp>
      <p:grpSp>
        <p:nvGrpSpPr>
          <p:cNvPr id="14" name="figure-box"/>
          <p:cNvGrpSpPr/>
          <p:nvPr/>
        </p:nvGrpSpPr>
        <p:grpSpPr>
          <a:xfrm>
            <a:off x="533400" y="1485900"/>
            <a:ext cx="6096000" cy="2901553"/>
            <a:chOff x="533400" y="1485900"/>
            <a:chExt cx="6096000" cy="2901553"/>
          </a:xfrm>
        </p:grpSpPr>
        <p:sp>
          <p:nvSpPr>
            <p:cNvPr id="11" name="Rectangle 11"/>
            <p:cNvSpPr/>
            <p:nvPr/>
          </p:nvSpPr>
          <p:spPr>
            <a:xfrm>
              <a:off x="533400" y="1485900"/>
              <a:ext cx="6096000" cy="2590800"/>
            </a:xfrm>
            <a:prstGeom prst="roundRect">
              <a:avLst>
                <a:gd name="adj" fmla="val 3676"/>
              </a:avLst>
            </a:prstGeom>
            <a:solidFill>
              <a:srgbClr val="FBFDFF"/>
            </a:solidFill>
            <a:ln w="14288">
              <a:solidFill>
                <a:srgbClr val="C9D8EC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9150" y="1678891"/>
              <a:ext cx="5524500" cy="2204817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819745" y="4204097"/>
              <a:ext cx="35233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Figure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(c): the Test-Time Training layer (from the paper)</a:t>
              </a:r>
            </a:p>
          </p:txBody>
        </p:sp>
      </p:grpSp>
      <p:grpSp>
        <p:nvGrpSpPr>
          <p:cNvPr id="17" name="bullet-dataset"/>
          <p:cNvGrpSpPr/>
          <p:nvPr/>
        </p:nvGrpSpPr>
        <p:grpSpPr>
          <a:xfrm>
            <a:off x="7124700" y="1644968"/>
            <a:ext cx="3832248" cy="530733"/>
            <a:chOff x="7124700" y="1644968"/>
            <a:chExt cx="3832248" cy="530733"/>
          </a:xfrm>
        </p:grpSpPr>
        <p:sp>
          <p:nvSpPr>
            <p:cNvPr id="15" name="Freeform 15"/>
            <p:cNvSpPr/>
            <p:nvPr/>
          </p:nvSpPr>
          <p:spPr>
            <a:xfrm>
              <a:off x="7124700" y="1695450"/>
              <a:ext cx="200025" cy="152400"/>
            </a:xfrm>
            <a:custGeom>
              <a:avLst/>
              <a:gdLst/>
              <a:ahLst/>
              <a:cxnLst/>
              <a:rect l="l" t="t" r="r" b="b"/>
              <a:pathLst>
                <a:path w="200025" h="152400">
                  <a:moveTo>
                    <a:pt x="0" y="76200"/>
                  </a:moveTo>
                  <a:lnTo>
                    <a:pt x="66675" y="152400"/>
                  </a:lnTo>
                  <a:lnTo>
                    <a:pt x="200025" y="0"/>
                  </a:lnTo>
                </a:path>
              </a:pathLst>
            </a:custGeom>
            <a:noFill/>
            <a:ln w="28575" cap="rnd">
              <a:solidFill>
                <a:srgbClr val="16A34A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41692" y="1644968"/>
              <a:ext cx="351525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View key–value pairs in the context as</a:t>
              </a:r>
              <a:br/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a </a:t>
              </a:r>
              <a:r>
                <a:rPr lang="en-US" sz="13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mini “dataset”</a:t>
              </a:r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, and </a:t>
              </a:r>
              <a:r>
                <a:rPr lang="en-US" sz="13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train</a:t>
              </a:r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an inner model: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tt-update-formula"/>
              <p:cNvSpPr txBox="1">
                <a:spLocks noGrp="1"/>
              </p:cNvSpPr>
              <p:nvPr/>
            </p:nvSpPr>
            <p:spPr>
              <a:xfrm>
                <a:off x="7010400" y="2857500"/>
                <a:ext cx="4648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2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sz="172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en-US" sz="17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ℬ</m:t>
                          </m:r>
                        </m:sub>
                      </m:sSub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72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ℱ</m:t>
                          </m:r>
                        </m:e>
                        <m:sub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US" sz="172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2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7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7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ℬ</m:t>
                              </m:r>
                            </m:sub>
                          </m:sSub>
                        </m:e>
                      </m:d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, </m:t>
                      </m:r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𝑊</m:t>
                      </m:r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←</m:t>
                      </m:r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𝑊</m:t>
                      </m:r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𝜂</m:t>
                      </m:r>
                      <m:r>
                        <a:rPr lang="en-US" sz="172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172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72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20" i="1" dirty="0">
                                      <a:solidFill>
                                        <a:srgbClr val="24303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720" i="1" dirty="0">
                                          <a:solidFill>
                                            <a:srgbClr val="24303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720" dirty="0">
                                          <a:solidFill>
                                            <a:srgbClr val="24303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720" dirty="0">
                                      <a:solidFill>
                                        <a:srgbClr val="24303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ℬ</m:t>
                                  </m:r>
                                </m:sub>
                              </m:sSub>
                              <m:r>
                                <a:rPr lang="en-US" sz="17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 </m:t>
                              </m:r>
                              <m:sSub>
                                <m:sSubPr>
                                  <m:ctrlPr>
                                    <a:rPr lang="en-US" sz="1720" i="1" dirty="0">
                                      <a:solidFill>
                                        <a:srgbClr val="24303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720" dirty="0">
                                      <a:solidFill>
                                        <a:srgbClr val="24303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720" dirty="0">
                                      <a:solidFill>
                                        <a:srgbClr val="24303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ℬ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en-US" sz="17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tt-update-formula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2857500"/>
                <a:ext cx="4648200" cy="1143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bullet-queries"/>
          <p:cNvGrpSpPr/>
          <p:nvPr/>
        </p:nvGrpSpPr>
        <p:grpSpPr>
          <a:xfrm>
            <a:off x="7124700" y="4362450"/>
            <a:ext cx="4516270" cy="270701"/>
            <a:chOff x="7124700" y="4362450"/>
            <a:chExt cx="4516270" cy="270701"/>
          </a:xfrm>
        </p:grpSpPr>
        <p:sp>
          <p:nvSpPr>
            <p:cNvPr id="19" name="Freeform 19"/>
            <p:cNvSpPr/>
            <p:nvPr/>
          </p:nvSpPr>
          <p:spPr>
            <a:xfrm>
              <a:off x="7124700" y="4362450"/>
              <a:ext cx="200025" cy="152400"/>
            </a:xfrm>
            <a:custGeom>
              <a:avLst/>
              <a:gdLst/>
              <a:ahLst/>
              <a:cxnLst/>
              <a:rect l="l" t="t" r="r" b="b"/>
              <a:pathLst>
                <a:path w="200025" h="152400">
                  <a:moveTo>
                    <a:pt x="0" y="76200"/>
                  </a:moveTo>
                  <a:lnTo>
                    <a:pt x="66675" y="152400"/>
                  </a:lnTo>
                  <a:lnTo>
                    <a:pt x="200025" y="0"/>
                  </a:lnTo>
                </a:path>
              </a:pathLst>
            </a:custGeom>
            <a:noFill/>
            <a:ln w="28575" cap="rnd">
              <a:solidFill>
                <a:srgbClr val="16A34A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41692" y="4369118"/>
              <a:ext cx="4199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Apply the inner model to queries: </a:t>
              </a:r>
              <a:r>
                <a:rPr lang="en-US" sz="135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O = F</a:t>
              </a:r>
              <a:r>
                <a:rPr lang="en-US" sz="900" b="1" baseline="-25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W*</a:t>
              </a:r>
              <a:r>
                <a:rPr lang="en-US" sz="135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(Q)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74763" y="6590824"/>
            <a:ext cx="887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22436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Motivation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0" name="bottleneck-statement"/>
          <p:cNvGrpSpPr/>
          <p:nvPr/>
        </p:nvGrpSpPr>
        <p:grpSpPr>
          <a:xfrm>
            <a:off x="1510129" y="2925128"/>
            <a:ext cx="9171743" cy="498729"/>
            <a:chOff x="1510129" y="2925128"/>
            <a:chExt cx="9171743" cy="498729"/>
          </a:xfrm>
        </p:grpSpPr>
        <p:sp>
          <p:nvSpPr>
            <p:cNvPr id="9" name="TextBox 9"/>
            <p:cNvSpPr txBox="1"/>
            <p:nvPr/>
          </p:nvSpPr>
          <p:spPr>
            <a:xfrm>
              <a:off x="1510129" y="2925128"/>
              <a:ext cx="91717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Bottleneck:</a:t>
              </a:r>
              <a:r>
                <a:rPr lang="en-US" sz="25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 large and </a:t>
              </a:r>
              <a:r>
                <a:rPr lang="en-US" sz="25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under-explored</a:t>
              </a:r>
              <a:r>
                <a:rPr lang="en-US" sz="25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design space</a:t>
              </a:r>
            </a:p>
          </p:txBody>
        </p:sp>
      </p:grpSp>
      <p:grpSp>
        <p:nvGrpSpPr>
          <p:cNvPr id="13" name="sub-statement"/>
          <p:cNvGrpSpPr/>
          <p:nvPr/>
        </p:nvGrpSpPr>
        <p:grpSpPr>
          <a:xfrm>
            <a:off x="3482966" y="3778568"/>
            <a:ext cx="5226068" cy="530733"/>
            <a:chOff x="3482966" y="3778568"/>
            <a:chExt cx="5226068" cy="530733"/>
          </a:xfrm>
        </p:grpSpPr>
        <p:sp>
          <p:nvSpPr>
            <p:cNvPr id="11" name="TextBox 11"/>
            <p:cNvSpPr txBox="1"/>
            <p:nvPr/>
          </p:nvSpPr>
          <p:spPr>
            <a:xfrm>
              <a:off x="3482966" y="3778568"/>
              <a:ext cx="5226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Key choices of the inner training process and the inner model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97111" y="4045268"/>
              <a:ext cx="4397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still lack systematic understanding in existing work.</a:t>
              </a:r>
            </a:p>
          </p:txBody>
        </p:sp>
      </p:grpSp>
      <p:grpSp>
        <p:nvGrpSpPr>
          <p:cNvPr id="17" name="deco-corner"/>
          <p:cNvGrpSpPr/>
          <p:nvPr/>
        </p:nvGrpSpPr>
        <p:grpSpPr>
          <a:xfrm>
            <a:off x="10496550" y="5391150"/>
            <a:ext cx="1695450" cy="1028700"/>
            <a:chOff x="10496550" y="5391150"/>
            <a:chExt cx="1695450" cy="1028700"/>
          </a:xfrm>
        </p:grpSpPr>
        <p:sp>
          <p:nvSpPr>
            <p:cNvPr id="14" name="Rectangle 14"/>
            <p:cNvSpPr/>
            <p:nvPr/>
          </p:nvSpPr>
          <p:spPr>
            <a:xfrm>
              <a:off x="10953750" y="5619750"/>
              <a:ext cx="800100" cy="800100"/>
            </a:xfrm>
            <a:prstGeom prst="rect">
              <a:avLst/>
            </a:prstGeom>
            <a:solidFill>
              <a:srgbClr val="E3EEF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772900" y="5391150"/>
              <a:ext cx="419100" cy="41910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96550" y="6096000"/>
              <a:ext cx="323850" cy="32385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</p:grpSp>
      <p:grpSp>
        <p:nvGrpSpPr>
          <p:cNvPr id="20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18" name="Rectangle 18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83615" y="6590824"/>
            <a:ext cx="799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778029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Exploring Test-Time Training Designs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2" name="intro-text"/>
          <p:cNvGrpSpPr/>
          <p:nvPr/>
        </p:nvGrpSpPr>
        <p:grpSpPr>
          <a:xfrm>
            <a:off x="657606" y="2091690"/>
            <a:ext cx="2870324" cy="1075944"/>
            <a:chOff x="657606" y="2091690"/>
            <a:chExt cx="2870324" cy="1075944"/>
          </a:xfrm>
        </p:grpSpPr>
        <p:sp>
          <p:nvSpPr>
            <p:cNvPr id="9" name="TextBox 9"/>
            <p:cNvSpPr txBox="1"/>
            <p:nvPr/>
          </p:nvSpPr>
          <p:spPr>
            <a:xfrm>
              <a:off x="657606" y="2091690"/>
              <a:ext cx="2870324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8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Systematically explore</a:t>
              </a:r>
              <a:br/>
              <a:r>
                <a:rPr lang="en-US" sz="18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the new design space of TTT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815590"/>
              <a:ext cx="21167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from </a:t>
              </a:r>
              <a:r>
                <a:rPr lang="en-US" sz="180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six aspects</a:t>
              </a:r>
              <a:r>
                <a:rPr lang="en-US" sz="18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: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086100"/>
              <a:ext cx="1238250" cy="28575"/>
            </a:xfrm>
            <a:prstGeom prst="rect">
              <a:avLst/>
            </a:prstGeom>
            <a:solidFill>
              <a:srgbClr val="1D5FA8"/>
            </a:solidFill>
            <a:ln>
              <a:noFill/>
            </a:ln>
          </p:spPr>
        </p:sp>
      </p:grpSp>
      <p:grpSp>
        <p:nvGrpSpPr>
          <p:cNvPr id="14" name="baseline-note"/>
          <p:cNvGrpSpPr/>
          <p:nvPr/>
        </p:nvGrpSpPr>
        <p:grpSpPr>
          <a:xfrm>
            <a:off x="661035" y="3936206"/>
            <a:ext cx="2421232" cy="448628"/>
            <a:chOff x="661035" y="3936206"/>
            <a:chExt cx="2421232" cy="448628"/>
          </a:xfrm>
        </p:grpSpPr>
        <p:sp>
          <p:nvSpPr>
            <p:cNvPr id="13" name="TextBox 13"/>
            <p:cNvSpPr txBox="1"/>
            <p:nvPr/>
          </p:nvSpPr>
          <p:spPr>
            <a:xfrm>
              <a:off x="661035" y="3936206"/>
              <a:ext cx="242123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Baseline: DeiT-T with attention blocks</a:t>
              </a:r>
              <a:br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replaced by TTT layers.</a:t>
              </a:r>
            </a:p>
          </p:txBody>
        </p:sp>
      </p:grpSp>
      <p:grpSp>
        <p:nvGrpSpPr>
          <p:cNvPr id="26" name="group-inner-training"/>
          <p:cNvGrpSpPr/>
          <p:nvPr/>
        </p:nvGrpSpPr>
        <p:grpSpPr>
          <a:xfrm>
            <a:off x="4944618" y="1650682"/>
            <a:ext cx="6523482" cy="1168718"/>
            <a:chOff x="4944618" y="1650682"/>
            <a:chExt cx="6523482" cy="1168718"/>
          </a:xfrm>
        </p:grpSpPr>
        <p:sp>
          <p:nvSpPr>
            <p:cNvPr id="15" name="TextBox 15"/>
            <p:cNvSpPr txBox="1"/>
            <p:nvPr/>
          </p:nvSpPr>
          <p:spPr>
            <a:xfrm>
              <a:off x="4944618" y="1650682"/>
              <a:ext cx="1956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Training: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953000" y="190500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19050">
              <a:solidFill>
                <a:srgbClr val="14355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2057400"/>
              <a:ext cx="2019300" cy="762000"/>
            </a:xfrm>
            <a:prstGeom prst="roundRect">
              <a:avLst>
                <a:gd name="adj" fmla="val 10000"/>
              </a:avLst>
            </a:prstGeom>
            <a:solidFill>
              <a:srgbClr val="3E7C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73459" y="2243614"/>
              <a:ext cx="578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loss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17646" y="2491264"/>
              <a:ext cx="690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function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00900" y="2057400"/>
              <a:ext cx="2019300" cy="762000"/>
            </a:xfrm>
            <a:prstGeom prst="roundRect">
              <a:avLst>
                <a:gd name="adj" fmla="val 10000"/>
              </a:avLst>
            </a:prstGeom>
            <a:solidFill>
              <a:srgbClr val="3E7C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45882" y="2243614"/>
              <a:ext cx="1129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epoch and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5801" y="2491264"/>
              <a:ext cx="809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batch size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48800" y="2057400"/>
              <a:ext cx="2019300" cy="762000"/>
            </a:xfrm>
            <a:prstGeom prst="roundRect">
              <a:avLst>
                <a:gd name="adj" fmla="val 10000"/>
              </a:avLst>
            </a:prstGeom>
            <a:solidFill>
              <a:srgbClr val="3E7C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61875" y="2243614"/>
              <a:ext cx="993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3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learning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83288" y="2491264"/>
              <a:ext cx="350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rate</a:t>
              </a:r>
            </a:p>
          </p:txBody>
        </p:sp>
      </p:grpSp>
      <p:grpSp>
        <p:nvGrpSpPr>
          <p:cNvPr id="38" name="group-inner-model"/>
          <p:cNvGrpSpPr/>
          <p:nvPr/>
        </p:nvGrpSpPr>
        <p:grpSpPr>
          <a:xfrm>
            <a:off x="4944618" y="3269932"/>
            <a:ext cx="6523482" cy="1168718"/>
            <a:chOff x="4944618" y="3269932"/>
            <a:chExt cx="6523482" cy="1168718"/>
          </a:xfrm>
        </p:grpSpPr>
        <p:sp>
          <p:nvSpPr>
            <p:cNvPr id="27" name="TextBox 27"/>
            <p:cNvSpPr txBox="1"/>
            <p:nvPr/>
          </p:nvSpPr>
          <p:spPr>
            <a:xfrm>
              <a:off x="4944618" y="3269932"/>
              <a:ext cx="16754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Model: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953000" y="35242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19050">
              <a:solidFill>
                <a:srgbClr val="14355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953000" y="3676650"/>
              <a:ext cx="2019300" cy="762000"/>
            </a:xfrm>
            <a:prstGeom prst="roundRect">
              <a:avLst>
                <a:gd name="adj" fmla="val 10000"/>
              </a:avLst>
            </a:prstGeom>
            <a:solidFill>
              <a:srgbClr val="16365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95116" y="3862864"/>
              <a:ext cx="735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inner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46895" y="4110514"/>
              <a:ext cx="10315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 width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00900" y="3676650"/>
              <a:ext cx="2019300" cy="762000"/>
            </a:xfrm>
            <a:prstGeom prst="roundRect">
              <a:avLst>
                <a:gd name="adj" fmla="val 10000"/>
              </a:avLst>
            </a:prstGeom>
            <a:solidFill>
              <a:srgbClr val="16365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46347" y="3862864"/>
              <a:ext cx="728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5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inner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01158" y="4110514"/>
              <a:ext cx="1018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 depth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448800" y="3676650"/>
              <a:ext cx="2019300" cy="762000"/>
            </a:xfrm>
            <a:prstGeom prst="roundRect">
              <a:avLst>
                <a:gd name="adj" fmla="val 10000"/>
              </a:avLst>
            </a:prstGeom>
            <a:solidFill>
              <a:srgbClr val="16365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90825" y="3862864"/>
              <a:ext cx="735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6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inner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3164" y="4110514"/>
              <a:ext cx="930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 arch</a:t>
              </a:r>
            </a:p>
          </p:txBody>
        </p:sp>
      </p:grpSp>
      <p:grpSp>
        <p:nvGrpSpPr>
          <p:cNvPr id="41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39" name="Rectangle 39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588211" y="6590824"/>
            <a:ext cx="75342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59786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Training Configuration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tag-pill"/>
          <p:cNvGrpSpPr/>
          <p:nvPr/>
        </p:nvGrpSpPr>
        <p:grpSpPr>
          <a:xfrm>
            <a:off x="533400" y="1009650"/>
            <a:ext cx="2324100" cy="361950"/>
            <a:chOff x="533400" y="1009650"/>
            <a:chExt cx="2324100" cy="361950"/>
          </a:xfrm>
        </p:grpSpPr>
        <p:sp>
          <p:nvSpPr>
            <p:cNvPr id="9" name="Rectangle 9"/>
            <p:cNvSpPr/>
            <p:nvPr/>
          </p:nvSpPr>
          <p:spPr>
            <a:xfrm>
              <a:off x="533400" y="1009650"/>
              <a:ext cx="2324100" cy="361950"/>
            </a:xfrm>
            <a:prstGeom prst="roundRect">
              <a:avLst>
                <a:gd name="adj" fmla="val 10526"/>
              </a:avLst>
            </a:prstGeom>
            <a:solidFill>
              <a:srgbClr val="3E7C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5775" y="1110139"/>
              <a:ext cx="1299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loss function</a:t>
              </a:r>
            </a:p>
          </p:txBody>
        </p:sp>
      </p:grpSp>
      <p:grpSp>
        <p:nvGrpSpPr>
          <p:cNvPr id="13" name="insight-headline"/>
          <p:cNvGrpSpPr/>
          <p:nvPr/>
        </p:nvGrpSpPr>
        <p:grpSpPr>
          <a:xfrm>
            <a:off x="849249" y="1712047"/>
            <a:ext cx="7621258" cy="525978"/>
            <a:chOff x="849249" y="1712047"/>
            <a:chExt cx="7621258" cy="5259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2"/>
                <p:cNvSpPr txBox="1"/>
                <p:nvPr/>
              </p:nvSpPr>
              <p:spPr>
                <a:xfrm>
                  <a:off x="849249" y="1712047"/>
                  <a:ext cx="7621258" cy="5259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80" b="1" dirty="0">
                      <a:solidFill>
                        <a:srgbClr val="1D5FA8"/>
                      </a:solidFill>
                      <a:latin typeface="+mn-lt"/>
                      <a:ea typeface="+mn-ea"/>
                      <a:cs typeface="+mn-cs"/>
                    </a:rPr>
                    <a:t>Insight </a:t>
                  </a:r>
                  <a:r>
                    <a:rPr lang="en-US" sz="1580" b="1" dirty="0">
                      <a:solidFill>
                        <a:srgbClr val="1D5FA8"/>
                      </a:solidFill>
                      <a:latin typeface="Times New Roman"/>
                      <a:ea typeface="+mn-ea"/>
                      <a:cs typeface="+mn-cs"/>
                    </a:rPr>
                    <a:t>1</a:t>
                  </a:r>
                  <a:r>
                    <a:rPr lang="en-US" sz="1580" b="1" dirty="0">
                      <a:solidFill>
                        <a:srgbClr val="1D5FA8"/>
                      </a:solidFill>
                      <a:latin typeface="+mn-lt"/>
                      <a:ea typeface="+mn-ea"/>
                      <a:cs typeface="+mn-cs"/>
                    </a:rPr>
                    <a:t>:</a:t>
                  </a:r>
                  <a:r>
                    <a:rPr lang="en-US" sz="158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 Inner loss functions ℒ should have </a:t>
                  </a:r>
                  <a:r>
                    <a:rPr lang="en-US" sz="1580" b="1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non-vanishing</a:t>
                  </a:r>
                  <a:r>
                    <a:rPr lang="en-US" sz="158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58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8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a:rPr lang="en-US" sz="158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58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8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ℒ</m:t>
                          </m:r>
                        </m:num>
                        <m:den>
                          <m:r>
                            <a:rPr lang="en-US" sz="158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acc>
                            <m:accPr>
                              <m:chr m:val="ˆ"/>
                              <m:ctrlPr>
                                <a:rPr lang="en-US" sz="158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en-US" sz="158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sz="158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58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en-US" sz="158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𝑉</m:t>
                          </m:r>
                        </m:den>
                      </m:f>
                    </m:oMath>
                  </a14:m>
                  <a:endParaRPr lang="en-US" sz="1580" dirty="0">
                    <a:solidFill>
                      <a:srgbClr val="24303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49" y="1712047"/>
                  <a:ext cx="7621258" cy="525978"/>
                </a:xfrm>
                <a:prstGeom prst="rect">
                  <a:avLst/>
                </a:prstGeom>
                <a:blipFill>
                  <a:blip r:embed="rId4"/>
                  <a:stretch>
                    <a:fillRect l="-159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adient-bullet"/>
          <p:cNvGrpSpPr/>
          <p:nvPr/>
        </p:nvGrpSpPr>
        <p:grpSpPr>
          <a:xfrm>
            <a:off x="628650" y="2513171"/>
            <a:ext cx="3411619" cy="278702"/>
            <a:chOff x="628650" y="2513171"/>
            <a:chExt cx="3411619" cy="278702"/>
          </a:xfrm>
        </p:grpSpPr>
        <p:sp>
          <p:nvSpPr>
            <p:cNvPr id="14" name="Freeform 14"/>
            <p:cNvSpPr/>
            <p:nvPr/>
          </p:nvSpPr>
          <p:spPr>
            <a:xfrm>
              <a:off x="628650" y="2552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0011" y="2513171"/>
              <a:ext cx="31902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The outer loop gradient to W</a:t>
              </a:r>
              <a:r>
                <a:rPr lang="en-US" sz="980" b="1" baseline="-250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radient-formula"/>
              <p:cNvSpPr txBox="1">
                <a:spLocks noGrp="1"/>
              </p:cNvSpPr>
              <p:nvPr/>
            </p:nvSpPr>
            <p:spPr>
              <a:xfrm>
                <a:off x="857250" y="2914650"/>
                <a:ext cx="5334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5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𝐺</m:t>
                          </m:r>
                        </m:num>
                        <m:den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5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r>
                        <a:rPr lang="en-US" sz="165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165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5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sz="1650" i="1" dirty="0">
                                      <a:solidFill>
                                        <a:srgbClr val="24303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1650" dirty="0">
                                      <a:solidFill>
                                        <a:srgbClr val="24303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ℬ</m:t>
                              </m:r>
                            </m:sub>
                          </m:sSub>
                        </m:num>
                        <m:den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𝑊</m:t>
                          </m:r>
                        </m:den>
                      </m:f>
                      <m:r>
                        <a:rPr lang="en-US" sz="165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165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5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a:rPr lang="en-US" sz="1650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50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50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650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65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5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65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50" dirty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50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ℬ</m:t>
                                  </m:r>
                                </m:sub>
                              </m:sSub>
                              <m:r>
                                <a:rPr lang="en-US" sz="1650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 </m:t>
                              </m:r>
                              <m:sSub>
                                <m:sSubPr>
                                  <m:ctrlPr>
                                    <a:rPr lang="en-US" sz="165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650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650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ℬ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650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5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en-US" sz="165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1650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50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ℬ</m:t>
                              </m:r>
                            </m:sub>
                          </m:sSub>
                          <m:r>
                            <a:rPr lang="en-US" sz="1650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650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5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650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50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ℬ</m:t>
                              </m:r>
                            </m:sub>
                          </m:sSub>
                        </m:den>
                      </m:f>
                      <m:r>
                        <a:rPr lang="en-US" sz="165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ctrlPr>
                            <a:rPr lang="en-US" sz="165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5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ℬ</m:t>
                              </m:r>
                            </m:sub>
                          </m:sSub>
                        </m:num>
                        <m:den>
                          <m:r>
                            <a:rPr lang="en-US" sz="165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5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5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" name="gradient-formula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914650"/>
                <a:ext cx="5334000" cy="990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vanish-bullet"/>
          <p:cNvGrpSpPr/>
          <p:nvPr/>
        </p:nvGrpSpPr>
        <p:grpSpPr>
          <a:xfrm>
            <a:off x="628650" y="4193316"/>
            <a:ext cx="4155065" cy="636907"/>
            <a:chOff x="628650" y="4193316"/>
            <a:chExt cx="4155065" cy="636907"/>
          </a:xfrm>
        </p:grpSpPr>
        <p:sp>
          <p:nvSpPr>
            <p:cNvPr id="18" name="Freeform 18"/>
            <p:cNvSpPr/>
            <p:nvPr/>
          </p:nvSpPr>
          <p:spPr>
            <a:xfrm>
              <a:off x="628650" y="4305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9"/>
                <p:cNvSpPr txBox="1"/>
                <p:nvPr/>
              </p:nvSpPr>
              <p:spPr>
                <a:xfrm>
                  <a:off x="850011" y="4193316"/>
                  <a:ext cx="3933704" cy="4758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42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If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42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2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a:rPr lang="en-US" sz="14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4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ℒ</m:t>
                          </m:r>
                        </m:num>
                        <m:den>
                          <m:r>
                            <a:rPr lang="en-US" sz="14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acc>
                            <m:accPr>
                              <m:chr m:val="ˆ"/>
                              <m:ctrlPr>
                                <a:rPr lang="en-US" sz="142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en-US" sz="142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sz="14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4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en-US" sz="142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𝑉</m:t>
                          </m:r>
                        </m:den>
                      </m:f>
                    </m:oMath>
                  </a14:m>
                  <a:r>
                    <a:rPr lang="en-US" sz="142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 vanishes, the gradient signal</a:t>
                  </a:r>
                </a:p>
              </p:txBody>
            </p:sp>
          </mc:Choice>
          <mc:Fallback xmlns="">
            <p:sp>
              <p:nvSpPr>
                <p:cNvPr id="19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11" y="4193316"/>
                  <a:ext cx="3933704" cy="475885"/>
                </a:xfrm>
                <a:prstGeom prst="rect">
                  <a:avLst/>
                </a:prstGeom>
                <a:blipFill>
                  <a:blip r:embed="rId6"/>
                  <a:stretch>
                    <a:fillRect l="-278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20"/>
            <p:cNvSpPr txBox="1"/>
            <p:nvPr/>
          </p:nvSpPr>
          <p:spPr>
            <a:xfrm>
              <a:off x="850011" y="4551521"/>
              <a:ext cx="36068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to W</a:t>
              </a:r>
              <a:r>
                <a:rPr lang="en-US" sz="980" baseline="-25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V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dies — W</a:t>
              </a:r>
              <a:r>
                <a:rPr lang="en-US" sz="980" baseline="-25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V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42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can’t be optimized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26" name="table1-figure"/>
          <p:cNvGrpSpPr/>
          <p:nvPr/>
        </p:nvGrpSpPr>
        <p:grpSpPr>
          <a:xfrm>
            <a:off x="6762750" y="2286000"/>
            <a:ext cx="4762500" cy="2158603"/>
            <a:chOff x="6762750" y="2286000"/>
            <a:chExt cx="4762500" cy="2158603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62750" y="2286000"/>
              <a:ext cx="4762500" cy="1781175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800850" y="2711291"/>
              <a:ext cx="4686300" cy="743196"/>
            </a:xfrm>
            <a:prstGeom prst="roundRect">
              <a:avLst>
                <a:gd name="adj" fmla="val 5435"/>
              </a:avLst>
            </a:prstGeom>
            <a:noFill/>
            <a:ln w="28575">
              <a:solidFill>
                <a:srgbClr val="16A34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00850" y="3467100"/>
              <a:ext cx="4686300" cy="571500"/>
            </a:xfrm>
            <a:prstGeom prst="roundRect">
              <a:avLst>
                <a:gd name="adj" fmla="val 8333"/>
              </a:avLst>
            </a:prstGeom>
            <a:noFill/>
            <a:ln w="28575">
              <a:solidFill>
                <a:srgbClr val="DC262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5761" y="4261247"/>
              <a:ext cx="319647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Table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: inner training loss functions (from the paper)</a:t>
              </a:r>
            </a:p>
          </p:txBody>
        </p:sp>
      </p:grpSp>
      <p:grpSp>
        <p:nvGrpSpPr>
          <p:cNvPr id="29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27" name="Rectangle 27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593021" y="6590824"/>
            <a:ext cx="70532" cy="1508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59786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Training Configuration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pill-epoch"/>
          <p:cNvGrpSpPr/>
          <p:nvPr/>
        </p:nvGrpSpPr>
        <p:grpSpPr>
          <a:xfrm>
            <a:off x="533400" y="1009650"/>
            <a:ext cx="2800350" cy="361950"/>
            <a:chOff x="533400" y="1009650"/>
            <a:chExt cx="2800350" cy="361950"/>
          </a:xfrm>
        </p:grpSpPr>
        <p:sp>
          <p:nvSpPr>
            <p:cNvPr id="9" name="Rectangle 9"/>
            <p:cNvSpPr/>
            <p:nvPr/>
          </p:nvSpPr>
          <p:spPr>
            <a:xfrm>
              <a:off x="533400" y="1009650"/>
              <a:ext cx="2800350" cy="361950"/>
            </a:xfrm>
            <a:prstGeom prst="roundRect">
              <a:avLst>
                <a:gd name="adj" fmla="val 10526"/>
              </a:avLst>
            </a:prstGeom>
            <a:solidFill>
              <a:srgbClr val="3E7C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8678" y="1110139"/>
              <a:ext cx="1969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epoch and batch size</a:t>
              </a:r>
            </a:p>
          </p:txBody>
        </p:sp>
      </p:grpSp>
      <p:grpSp>
        <p:nvGrpSpPr>
          <p:cNvPr id="14" name="insight2-text"/>
          <p:cNvGrpSpPr/>
          <p:nvPr/>
        </p:nvGrpSpPr>
        <p:grpSpPr>
          <a:xfrm>
            <a:off x="659130" y="1704975"/>
            <a:ext cx="4893055" cy="579120"/>
            <a:chOff x="659130" y="1704975"/>
            <a:chExt cx="4893055" cy="579120"/>
          </a:xfrm>
        </p:grpSpPr>
        <p:sp>
          <p:nvSpPr>
            <p:cNvPr id="12" name="TextBox 12"/>
            <p:cNvSpPr txBox="1"/>
            <p:nvPr/>
          </p:nvSpPr>
          <p:spPr>
            <a:xfrm>
              <a:off x="659130" y="1704975"/>
              <a:ext cx="3883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Insight </a:t>
              </a:r>
              <a:r>
                <a:rPr lang="en-US" sz="1500" b="1" dirty="0">
                  <a:solidFill>
                    <a:srgbClr val="1D5FA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50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: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 single epoch of </a:t>
              </a:r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full-batch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130" y="1990725"/>
              <a:ext cx="4893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(batch gradient) inner training works well for vision</a:t>
              </a:r>
            </a:p>
          </p:txBody>
        </p:sp>
      </p:grpSp>
      <p:grpSp>
        <p:nvGrpSpPr>
          <p:cNvPr id="17" name="table2-figure"/>
          <p:cNvGrpSpPr/>
          <p:nvPr/>
        </p:nvGrpSpPr>
        <p:grpSpPr>
          <a:xfrm>
            <a:off x="723900" y="2819400"/>
            <a:ext cx="4762500" cy="2291953"/>
            <a:chOff x="723900" y="2819400"/>
            <a:chExt cx="4762500" cy="2291953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900" y="2819400"/>
              <a:ext cx="4762500" cy="19621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663333" y="4927997"/>
              <a:ext cx="28836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Table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: batch sizes and epochs (from the paper)</a:t>
              </a:r>
            </a:p>
          </p:txBody>
        </p:sp>
      </p:grpSp>
      <p:grpSp>
        <p:nvGrpSpPr>
          <p:cNvPr id="20" name="pill-lr"/>
          <p:cNvGrpSpPr/>
          <p:nvPr/>
        </p:nvGrpSpPr>
        <p:grpSpPr>
          <a:xfrm>
            <a:off x="6248400" y="1009650"/>
            <a:ext cx="2228850" cy="361950"/>
            <a:chOff x="6248400" y="1009650"/>
            <a:chExt cx="2228850" cy="361950"/>
          </a:xfrm>
        </p:grpSpPr>
        <p:sp>
          <p:nvSpPr>
            <p:cNvPr id="18" name="Rectangle 18"/>
            <p:cNvSpPr/>
            <p:nvPr/>
          </p:nvSpPr>
          <p:spPr>
            <a:xfrm>
              <a:off x="6248400" y="1009650"/>
              <a:ext cx="2228850" cy="361950"/>
            </a:xfrm>
            <a:prstGeom prst="roundRect">
              <a:avLst>
                <a:gd name="adj" fmla="val 10526"/>
              </a:avLst>
            </a:prstGeom>
            <a:solidFill>
              <a:srgbClr val="3E7C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75608" y="1110139"/>
              <a:ext cx="1374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3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learning rate</a:t>
              </a:r>
            </a:p>
          </p:txBody>
        </p:sp>
      </p:grpSp>
      <p:grpSp>
        <p:nvGrpSpPr>
          <p:cNvPr id="23" name="insight3-text"/>
          <p:cNvGrpSpPr/>
          <p:nvPr/>
        </p:nvGrpSpPr>
        <p:grpSpPr>
          <a:xfrm>
            <a:off x="6374130" y="1704975"/>
            <a:ext cx="4275822" cy="579120"/>
            <a:chOff x="6374130" y="1704975"/>
            <a:chExt cx="4275822" cy="579120"/>
          </a:xfrm>
        </p:grpSpPr>
        <p:sp>
          <p:nvSpPr>
            <p:cNvPr id="21" name="TextBox 21"/>
            <p:cNvSpPr txBox="1"/>
            <p:nvPr/>
          </p:nvSpPr>
          <p:spPr>
            <a:xfrm>
              <a:off x="6374130" y="1704975"/>
              <a:ext cx="4275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Insight </a:t>
              </a:r>
              <a:r>
                <a:rPr lang="en-US" sz="1500" b="1" dirty="0">
                  <a:solidFill>
                    <a:srgbClr val="1D5FA8"/>
                  </a:solidFill>
                  <a:latin typeface="Times New Roman"/>
                  <a:ea typeface="+mn-ea"/>
                  <a:cs typeface="+mn-cs"/>
                </a:rPr>
                <a:t>3</a:t>
              </a:r>
              <a:r>
                <a:rPr lang="en-US" sz="150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: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 relatively </a:t>
              </a:r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large, stable inner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4130" y="1990725"/>
              <a:ext cx="3067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learning rate (</a:t>
              </a:r>
              <a:r>
                <a:rPr lang="en-US" sz="1500" b="1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1.0</a:t>
              </a:r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)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works best</a:t>
              </a:r>
            </a:p>
          </p:txBody>
        </p:sp>
      </p:grpSp>
      <p:grpSp>
        <p:nvGrpSpPr>
          <p:cNvPr id="26" name="table3-figure"/>
          <p:cNvGrpSpPr/>
          <p:nvPr/>
        </p:nvGrpSpPr>
        <p:grpSpPr>
          <a:xfrm>
            <a:off x="6438900" y="2857500"/>
            <a:ext cx="4762500" cy="977503"/>
            <a:chOff x="6438900" y="2857500"/>
            <a:chExt cx="4762500" cy="977503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8900" y="2857500"/>
              <a:ext cx="4762500" cy="6096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465504" y="3651647"/>
              <a:ext cx="270929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Table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3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: inner learning rates (from the paper)</a:t>
              </a:r>
            </a:p>
          </p:txBody>
        </p:sp>
      </p:grpSp>
      <p:grpSp>
        <p:nvGrpSpPr>
          <p:cNvPr id="30" name="lr-note"/>
          <p:cNvGrpSpPr/>
          <p:nvPr/>
        </p:nvGrpSpPr>
        <p:grpSpPr>
          <a:xfrm>
            <a:off x="6376035" y="4107656"/>
            <a:ext cx="3900475" cy="677228"/>
            <a:chOff x="6376035" y="4107656"/>
            <a:chExt cx="3900475" cy="677228"/>
          </a:xfrm>
        </p:grpSpPr>
        <p:sp>
          <p:nvSpPr>
            <p:cNvPr id="27" name="TextBox 27"/>
            <p:cNvSpPr txBox="1"/>
            <p:nvPr/>
          </p:nvSpPr>
          <p:spPr>
            <a:xfrm>
              <a:off x="6376035" y="4107656"/>
              <a:ext cx="3297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* </a:t>
              </a:r>
              <a:r>
                <a:rPr lang="en-US" sz="1120" dirty="0">
                  <a:solidFill>
                    <a:srgbClr val="64748B"/>
                  </a:solidFill>
                  <a:latin typeface="Times New Roman"/>
                  <a:ea typeface="+mn-ea"/>
                  <a:cs typeface="+mn-cs"/>
                </a:rPr>
                <a:t>5.0</a:t>
              </a:r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/ </a:t>
              </a:r>
              <a:r>
                <a:rPr lang="en-US" sz="1120" dirty="0">
                  <a:solidFill>
                    <a:srgbClr val="64748B"/>
                  </a:solidFill>
                  <a:latin typeface="Times New Roman"/>
                  <a:ea typeface="+mn-ea"/>
                  <a:cs typeface="+mn-cs"/>
                </a:rPr>
                <a:t>10.0</a:t>
              </a:r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: best accuracy before divergence 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4336256"/>
              <a:ext cx="3373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excessively large rates cause training instability.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564856"/>
              <a:ext cx="39004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Dynamic (token-wise) rates are less effective for vision.</a:t>
              </a:r>
            </a:p>
          </p:txBody>
        </p:sp>
      </p:grpSp>
      <p:grpSp>
        <p:nvGrpSpPr>
          <p:cNvPr id="33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31" name="Rectangle 31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533851" y="6590824"/>
            <a:ext cx="1297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41029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Model Design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tag-pill"/>
          <p:cNvGrpSpPr/>
          <p:nvPr/>
        </p:nvGrpSpPr>
        <p:grpSpPr>
          <a:xfrm>
            <a:off x="533400" y="1009650"/>
            <a:ext cx="2686050" cy="361950"/>
            <a:chOff x="533400" y="1009650"/>
            <a:chExt cx="2686050" cy="361950"/>
          </a:xfrm>
        </p:grpSpPr>
        <p:sp>
          <p:nvSpPr>
            <p:cNvPr id="9" name="Rectangle 9"/>
            <p:cNvSpPr/>
            <p:nvPr/>
          </p:nvSpPr>
          <p:spPr>
            <a:xfrm>
              <a:off x="533400" y="1009650"/>
              <a:ext cx="2686050" cy="361950"/>
            </a:xfrm>
            <a:prstGeom prst="roundRect">
              <a:avLst>
                <a:gd name="adj" fmla="val 10526"/>
              </a:avLst>
            </a:prstGeom>
            <a:solidFill>
              <a:srgbClr val="1636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655" y="1110139"/>
              <a:ext cx="1797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inner model width</a:t>
              </a:r>
            </a:p>
          </p:txBody>
        </p:sp>
      </p:grpSp>
      <p:grpSp>
        <p:nvGrpSpPr>
          <p:cNvPr id="13" name="insight-headline"/>
          <p:cNvGrpSpPr/>
          <p:nvPr/>
        </p:nvGrpSpPr>
        <p:grpSpPr>
          <a:xfrm>
            <a:off x="848487" y="1737836"/>
            <a:ext cx="9168502" cy="337376"/>
            <a:chOff x="848487" y="1737836"/>
            <a:chExt cx="9168502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848487" y="1737836"/>
              <a:ext cx="91685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Insight </a:t>
              </a:r>
              <a:r>
                <a:rPr lang="en-US" sz="1720" b="1" dirty="0">
                  <a:solidFill>
                    <a:srgbClr val="1D5FA8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17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:</a:t>
              </a:r>
              <a:r>
                <a:rPr lang="en-US" sz="17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Increasing </a:t>
              </a:r>
              <a:r>
                <a:rPr lang="en-US" sz="172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inner model width</a:t>
              </a:r>
              <a:r>
                <a:rPr lang="en-US" sz="17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consistently </a:t>
              </a:r>
              <a:r>
                <a:rPr lang="en-US" sz="172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improves performance</a:t>
              </a:r>
            </a:p>
          </p:txBody>
        </p:sp>
      </p:grpSp>
      <p:grpSp>
        <p:nvGrpSpPr>
          <p:cNvPr id="53" name="width-acc-chart"/>
          <p:cNvGrpSpPr/>
          <p:nvPr/>
        </p:nvGrpSpPr>
        <p:grpSpPr>
          <a:xfrm>
            <a:off x="402888" y="2286952"/>
            <a:ext cx="4645362" cy="3443859"/>
            <a:chOff x="402888" y="2286952"/>
            <a:chExt cx="4645362" cy="3443859"/>
          </a:xfrm>
        </p:grpSpPr>
        <p:sp>
          <p:nvSpPr>
            <p:cNvPr id="14" name="TextBox 14"/>
            <p:cNvSpPr txBox="1"/>
            <p:nvPr/>
          </p:nvSpPr>
          <p:spPr>
            <a:xfrm>
              <a:off x="1423416" y="2286952"/>
              <a:ext cx="1417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MLP inner model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762250" y="23526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1D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62262" y="2309812"/>
              <a:ext cx="85725" cy="85725"/>
            </a:xfrm>
            <a:prstGeom prst="ellipse">
              <a:avLst/>
            </a:prstGeom>
            <a:solidFill>
              <a:srgbClr val="1D5FA8"/>
            </a:solidFill>
            <a:ln>
              <a:noFill/>
            </a:ln>
          </p:spPr>
        </p:sp>
        <p:grpSp>
          <p:nvGrpSpPr>
            <p:cNvPr id="52" name="width-acc-chart-chartArea"/>
            <p:cNvGrpSpPr/>
            <p:nvPr/>
          </p:nvGrpSpPr>
          <p:grpSpPr>
            <a:xfrm>
              <a:off x="402888" y="2514124"/>
              <a:ext cx="4645362" cy="3216687"/>
              <a:chOff x="402888" y="2514124"/>
              <a:chExt cx="4645362" cy="3216687"/>
            </a:xfrm>
          </p:grpSpPr>
          <p:grpSp>
            <p:nvGrpSpPr>
              <p:cNvPr id="22" name="grid"/>
              <p:cNvGrpSpPr/>
              <p:nvPr/>
            </p:nvGrpSpPr>
            <p:grpSpPr>
              <a:xfrm>
                <a:off x="1333500" y="2571750"/>
                <a:ext cx="3714750" cy="2066925"/>
                <a:chOff x="1333500" y="2571750"/>
                <a:chExt cx="3714750" cy="2066925"/>
              </a:xfrm>
            </p:grpSpPr>
            <p:sp>
              <p:nvSpPr>
                <p:cNvPr id="17" name="Line 17"/>
                <p:cNvSpPr/>
                <p:nvPr/>
              </p:nvSpPr>
              <p:spPr>
                <a:xfrm>
                  <a:off x="1333500" y="2571750"/>
                  <a:ext cx="3714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9525">
                      <a:moveTo>
                        <a:pt x="0" y="0"/>
                      </a:moveTo>
                      <a:lnTo>
                        <a:pt x="371475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1333500" y="3086100"/>
                  <a:ext cx="3714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9525">
                      <a:moveTo>
                        <a:pt x="0" y="0"/>
                      </a:moveTo>
                      <a:lnTo>
                        <a:pt x="371475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1333500" y="3600450"/>
                  <a:ext cx="3714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9525">
                      <a:moveTo>
                        <a:pt x="0" y="0"/>
                      </a:moveTo>
                      <a:lnTo>
                        <a:pt x="371475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1333500" y="4114800"/>
                  <a:ext cx="3714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9525">
                      <a:moveTo>
                        <a:pt x="0" y="0"/>
                      </a:moveTo>
                      <a:lnTo>
                        <a:pt x="371475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1333500" y="4629150"/>
                  <a:ext cx="3714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9525">
                      <a:moveTo>
                        <a:pt x="0" y="0"/>
                      </a:moveTo>
                      <a:lnTo>
                        <a:pt x="371475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</p:grpSp>
          <p:grpSp>
            <p:nvGrpSpPr>
              <p:cNvPr id="25" name="axes"/>
              <p:cNvGrpSpPr/>
              <p:nvPr/>
            </p:nvGrpSpPr>
            <p:grpSpPr>
              <a:xfrm>
                <a:off x="1333500" y="2571750"/>
                <a:ext cx="3714750" cy="2581275"/>
                <a:chOff x="1333500" y="2571750"/>
                <a:chExt cx="3714750" cy="2581275"/>
              </a:xfrm>
            </p:grpSpPr>
            <p:sp>
              <p:nvSpPr>
                <p:cNvPr id="23" name="Line 23"/>
                <p:cNvSpPr/>
                <p:nvPr/>
              </p:nvSpPr>
              <p:spPr>
                <a:xfrm>
                  <a:off x="1333500" y="2571750"/>
                  <a:ext cx="9525" cy="257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71750">
                      <a:moveTo>
                        <a:pt x="0" y="0"/>
                      </a:moveTo>
                      <a:lnTo>
                        <a:pt x="0" y="2571750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1333500" y="5143500"/>
                  <a:ext cx="3714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4750" h="9525">
                      <a:moveTo>
                        <a:pt x="0" y="0"/>
                      </a:moveTo>
                      <a:lnTo>
                        <a:pt x="3714750" y="0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</p:grpSp>
          <p:grpSp>
            <p:nvGrpSpPr>
              <p:cNvPr id="32" name="value-labels"/>
              <p:cNvGrpSpPr/>
              <p:nvPr/>
            </p:nvGrpSpPr>
            <p:grpSpPr>
              <a:xfrm>
                <a:off x="978533" y="2514124"/>
                <a:ext cx="283720" cy="2762440"/>
                <a:chOff x="978533" y="2514124"/>
                <a:chExt cx="283720" cy="2762440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978533" y="5085874"/>
                  <a:ext cx="28372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78.8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980303" y="4571524"/>
                  <a:ext cx="28195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79.0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987998" y="4057174"/>
                  <a:ext cx="27425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79.2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987120" y="3542824"/>
                  <a:ext cx="2751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79.4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86980" y="3028474"/>
                  <a:ext cx="27527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79.6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982757" y="2514124"/>
                  <a:ext cx="27949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8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79.8</a:t>
                  </a:r>
                </a:p>
              </p:txBody>
            </p:sp>
          </p:grpSp>
          <p:grpSp>
            <p:nvGrpSpPr>
              <p:cNvPr id="37" name="category-labels"/>
              <p:cNvGrpSpPr/>
              <p:nvPr/>
            </p:nvGrpSpPr>
            <p:grpSpPr>
              <a:xfrm>
                <a:off x="1699490" y="5250656"/>
                <a:ext cx="2995482" cy="220028"/>
                <a:chOff x="1699490" y="5250656"/>
                <a:chExt cx="2995482" cy="220028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1699490" y="5250656"/>
                  <a:ext cx="2014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1×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2612527" y="5250656"/>
                  <a:ext cx="22324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2×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546136" y="5250656"/>
                  <a:ext cx="22292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3×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468077" y="5250656"/>
                  <a:ext cx="22689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4×</a:t>
                  </a:r>
                </a:p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2521497" y="5525452"/>
                <a:ext cx="133875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Inner Model Width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 rot="-5400000">
                <a:off x="402888" y="3754946"/>
                <a:ext cx="10397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Top</a:t>
                </a:r>
                <a:r>
                  <a:rPr lang="en-US" sz="1050" dirty="0">
                    <a:solidFill>
                      <a:srgbClr val="475569"/>
                    </a:solidFill>
                    <a:latin typeface="Times New Roman"/>
                    <a:ea typeface="+mn-ea"/>
                    <a:cs typeface="+mn-cs"/>
                  </a:rPr>
                  <a:t>-1</a:t>
                </a:r>
                <a:r>
                  <a:rPr lang="en-US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 Acc. (%)</a:t>
                </a:r>
              </a:p>
            </p:txBody>
          </p:sp>
          <p:grpSp>
            <p:nvGrpSpPr>
              <p:cNvPr id="46" name="width-series"/>
              <p:cNvGrpSpPr/>
              <p:nvPr/>
            </p:nvGrpSpPr>
            <p:grpSpPr>
              <a:xfrm>
                <a:off x="1743075" y="3028950"/>
                <a:ext cx="2895600" cy="1914525"/>
                <a:chOff x="1743075" y="3028950"/>
                <a:chExt cx="2895600" cy="1914525"/>
              </a:xfrm>
            </p:grpSpPr>
            <p:sp>
              <p:nvSpPr>
                <p:cNvPr id="40" name="Polyline 40"/>
                <p:cNvSpPr/>
                <p:nvPr/>
              </p:nvSpPr>
              <p:spPr>
                <a:xfrm>
                  <a:off x="1800225" y="3086100"/>
                  <a:ext cx="2781300" cy="18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1300" h="1800225">
                      <a:moveTo>
                        <a:pt x="0" y="1800225"/>
                      </a:moveTo>
                      <a:lnTo>
                        <a:pt x="923925" y="1028700"/>
                      </a:lnTo>
                      <a:lnTo>
                        <a:pt x="1857375" y="257175"/>
                      </a:lnTo>
                      <a:lnTo>
                        <a:pt x="2781300" y="0"/>
                      </a:lnTo>
                    </a:path>
                  </a:pathLst>
                </a:custGeom>
                <a:noFill/>
                <a:ln w="33338" cap="rnd">
                  <a:solidFill>
                    <a:srgbClr val="1D5FA8"/>
                  </a:solidFill>
                  <a:round/>
                </a:ln>
              </p:spPr>
            </p:sp>
            <p:grpSp>
              <p:nvGrpSpPr>
                <p:cNvPr id="45" name="Group 45"/>
                <p:cNvGrpSpPr/>
                <p:nvPr/>
              </p:nvGrpSpPr>
              <p:grpSpPr>
                <a:xfrm>
                  <a:off x="1743075" y="3028950"/>
                  <a:ext cx="2895600" cy="1914525"/>
                  <a:chOff x="1743075" y="3028950"/>
                  <a:chExt cx="2895600" cy="1914525"/>
                </a:xfrm>
              </p:grpSpPr>
              <p:sp>
                <p:nvSpPr>
                  <p:cNvPr id="41" name="Ellipse 41"/>
                  <p:cNvSpPr/>
                  <p:nvPr/>
                </p:nvSpPr>
                <p:spPr>
                  <a:xfrm>
                    <a:off x="1743075" y="4829175"/>
                    <a:ext cx="114300" cy="114300"/>
                  </a:xfrm>
                  <a:prstGeom prst="ellipse">
                    <a:avLst/>
                  </a:prstGeom>
                  <a:solidFill>
                    <a:srgbClr val="1D5FA8"/>
                  </a:solidFill>
                  <a:ln w="19050">
                    <a:solidFill>
                      <a:srgbClr val="FFFFFF"/>
                    </a:solidFill>
                  </a:ln>
                </p:spPr>
              </p:sp>
              <p:sp>
                <p:nvSpPr>
                  <p:cNvPr id="42" name="Ellipse 42"/>
                  <p:cNvSpPr/>
                  <p:nvPr/>
                </p:nvSpPr>
                <p:spPr>
                  <a:xfrm>
                    <a:off x="2667000" y="4057650"/>
                    <a:ext cx="114300" cy="114300"/>
                  </a:xfrm>
                  <a:prstGeom prst="ellipse">
                    <a:avLst/>
                  </a:prstGeom>
                  <a:solidFill>
                    <a:srgbClr val="1D5FA8"/>
                  </a:solidFill>
                  <a:ln w="19050">
                    <a:solidFill>
                      <a:srgbClr val="FFFFFF"/>
                    </a:solidFill>
                  </a:ln>
                </p:spPr>
              </p:sp>
              <p:sp>
                <p:nvSpPr>
                  <p:cNvPr id="43" name="Ellipse 43"/>
                  <p:cNvSpPr/>
                  <p:nvPr/>
                </p:nvSpPr>
                <p:spPr>
                  <a:xfrm>
                    <a:off x="3600450" y="3286125"/>
                    <a:ext cx="114300" cy="114300"/>
                  </a:xfrm>
                  <a:prstGeom prst="ellipse">
                    <a:avLst/>
                  </a:prstGeom>
                  <a:solidFill>
                    <a:srgbClr val="1D5FA8"/>
                  </a:solidFill>
                  <a:ln w="19050">
                    <a:solidFill>
                      <a:srgbClr val="FFFFFF"/>
                    </a:solidFill>
                  </a:ln>
                </p:spPr>
              </p:sp>
              <p:sp>
                <p:nvSpPr>
                  <p:cNvPr id="44" name="Ellipse 44"/>
                  <p:cNvSpPr/>
                  <p:nvPr/>
                </p:nvSpPr>
                <p:spPr>
                  <a:xfrm>
                    <a:off x="4524375" y="3028950"/>
                    <a:ext cx="114300" cy="114300"/>
                  </a:xfrm>
                  <a:prstGeom prst="ellipse">
                    <a:avLst/>
                  </a:prstGeom>
                  <a:solidFill>
                    <a:srgbClr val="1D5FA8"/>
                  </a:solidFill>
                  <a:ln w="19050">
                    <a:solidFill>
                      <a:srgbClr val="FFFFFF"/>
                    </a:solidFill>
                  </a:ln>
                </p:spPr>
              </p:sp>
            </p:grpSp>
          </p:grpSp>
          <p:grpSp>
            <p:nvGrpSpPr>
              <p:cNvPr id="51" name="data-labels"/>
              <p:cNvGrpSpPr/>
              <p:nvPr/>
            </p:nvGrpSpPr>
            <p:grpSpPr>
              <a:xfrm>
                <a:off x="1636579" y="2805351"/>
                <a:ext cx="3106560" cy="1998250"/>
                <a:chOff x="1636579" y="2805351"/>
                <a:chExt cx="3106560" cy="1998250"/>
              </a:xfrm>
            </p:grpSpPr>
            <p:sp>
              <p:nvSpPr>
                <p:cNvPr id="47" name="TextBox 47"/>
                <p:cNvSpPr txBox="1"/>
                <p:nvPr/>
              </p:nvSpPr>
              <p:spPr>
                <a:xfrm>
                  <a:off x="1636579" y="4605576"/>
                  <a:ext cx="327292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10" b="1" dirty="0">
                      <a:solidFill>
                        <a:srgbClr val="14355E"/>
                      </a:solidFill>
                      <a:latin typeface="Times New Roman"/>
                      <a:ea typeface="+mn-ea"/>
                      <a:cs typeface="+mn-cs"/>
                    </a:rPr>
                    <a:t>78.9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2564081" y="3834051"/>
                  <a:ext cx="320138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10" b="1" dirty="0">
                      <a:solidFill>
                        <a:srgbClr val="14355E"/>
                      </a:solidFill>
                      <a:latin typeface="Times New Roman"/>
                      <a:ea typeface="+mn-ea"/>
                      <a:cs typeface="+mn-cs"/>
                    </a:rPr>
                    <a:t>79.2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3499499" y="3062526"/>
                  <a:ext cx="316202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10" b="1" dirty="0">
                      <a:solidFill>
                        <a:srgbClr val="14355E"/>
                      </a:solidFill>
                      <a:latin typeface="Times New Roman"/>
                      <a:ea typeface="+mn-ea"/>
                      <a:cs typeface="+mn-cs"/>
                    </a:rPr>
                    <a:t>79.5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4419912" y="2805351"/>
                  <a:ext cx="323227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10" b="1" dirty="0">
                      <a:solidFill>
                        <a:srgbClr val="14355E"/>
                      </a:solidFill>
                      <a:latin typeface="Times New Roman"/>
                      <a:ea typeface="+mn-ea"/>
                      <a:cs typeface="+mn-cs"/>
                    </a:rPr>
                    <a:t>79.6</a:t>
                  </a:r>
                </a:p>
              </p:txBody>
            </p:sp>
          </p:grpSp>
        </p:grpSp>
      </p:grpSp>
      <p:grpSp>
        <p:nvGrpSpPr>
          <p:cNvPr id="55" name="chart-note"/>
          <p:cNvGrpSpPr/>
          <p:nvPr/>
        </p:nvGrpSpPr>
        <p:grpSpPr>
          <a:xfrm>
            <a:off x="1423988" y="6070997"/>
            <a:ext cx="3881506" cy="183356"/>
            <a:chOff x="1423988" y="6070997"/>
            <a:chExt cx="3881506" cy="183356"/>
          </a:xfrm>
        </p:grpSpPr>
        <p:sp>
          <p:nvSpPr>
            <p:cNvPr id="54" name="TextBox 54"/>
            <p:cNvSpPr txBox="1"/>
            <p:nvPr/>
          </p:nvSpPr>
          <p:spPr>
            <a:xfrm>
              <a:off x="1423988" y="6070997"/>
              <a:ext cx="38815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Data: Table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of the paper (MLP inner model, width ratio r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–r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58" name="compute-bullet"/>
          <p:cNvGrpSpPr/>
          <p:nvPr/>
        </p:nvGrpSpPr>
        <p:grpSpPr>
          <a:xfrm>
            <a:off x="6381750" y="2401729"/>
            <a:ext cx="4712173" cy="308039"/>
            <a:chOff x="6381750" y="2401729"/>
            <a:chExt cx="4712173" cy="308039"/>
          </a:xfrm>
        </p:grpSpPr>
        <p:sp>
          <p:nvSpPr>
            <p:cNvPr id="56" name="Freeform 56"/>
            <p:cNvSpPr/>
            <p:nvPr/>
          </p:nvSpPr>
          <p:spPr>
            <a:xfrm>
              <a:off x="6381750" y="24574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02349" y="2401729"/>
              <a:ext cx="44915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model incurs more computation</a:t>
              </a:r>
            </a:p>
          </p:txBody>
        </p:sp>
      </p:grpSp>
      <p:grpSp>
        <p:nvGrpSpPr>
          <p:cNvPr id="62" name="compute-breakdown"/>
          <p:cNvGrpSpPr/>
          <p:nvPr/>
        </p:nvGrpSpPr>
        <p:grpSpPr>
          <a:xfrm>
            <a:off x="6813042" y="2864168"/>
            <a:ext cx="4664417" cy="949833"/>
            <a:chOff x="6813042" y="2864168"/>
            <a:chExt cx="4664417" cy="949833"/>
          </a:xfrm>
        </p:grpSpPr>
        <p:sp>
          <p:nvSpPr>
            <p:cNvPr id="59" name="TextBox 59"/>
            <p:cNvSpPr txBox="1"/>
            <p:nvPr/>
          </p:nvSpPr>
          <p:spPr>
            <a:xfrm>
              <a:off x="6813042" y="2864168"/>
              <a:ext cx="4402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Forward pass on keys V̂ = F</a:t>
              </a:r>
              <a:r>
                <a:rPr lang="en-US" sz="980" i="1" baseline="-25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W</a:t>
              </a:r>
              <a:r>
                <a:rPr lang="en-US" sz="13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(K) — </a:t>
              </a:r>
              <a:r>
                <a:rPr lang="en-US" sz="1350" b="1" i="1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1×</a:t>
              </a:r>
              <a:r>
                <a:rPr lang="en-US" sz="1350" b="1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FLOPs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13042" y="3207068"/>
              <a:ext cx="37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Backward pass of the loss ℒ — </a:t>
              </a:r>
              <a:r>
                <a:rPr lang="en-US" sz="1350" b="1" i="1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2×</a:t>
              </a:r>
              <a:r>
                <a:rPr lang="en-US" sz="1350" b="1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FLOPs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13042" y="3549968"/>
              <a:ext cx="4664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Forward pass on queries O = F</a:t>
              </a:r>
              <a:r>
                <a:rPr lang="en-US" sz="980" i="1" baseline="-250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W</a:t>
              </a:r>
              <a:r>
                <a:rPr lang="en-US" sz="1350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(Q) — </a:t>
              </a:r>
              <a:r>
                <a:rPr lang="en-US" sz="1350" b="1" i="1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1×</a:t>
              </a:r>
              <a:r>
                <a:rPr lang="en-US" sz="1350" b="1" i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FLOPs</a:t>
              </a:r>
            </a:p>
          </p:txBody>
        </p:sp>
      </p:grpSp>
      <p:grpSp>
        <p:nvGrpSpPr>
          <p:cNvPr id="66" name="takeaway-box"/>
          <p:cNvGrpSpPr/>
          <p:nvPr/>
        </p:nvGrpSpPr>
        <p:grpSpPr>
          <a:xfrm>
            <a:off x="6286500" y="4191000"/>
            <a:ext cx="5372100" cy="914400"/>
            <a:chOff x="6286500" y="4191000"/>
            <a:chExt cx="5372100" cy="914400"/>
          </a:xfrm>
        </p:grpSpPr>
        <p:sp>
          <p:nvSpPr>
            <p:cNvPr id="63" name="Rectangle 63"/>
            <p:cNvSpPr/>
            <p:nvPr/>
          </p:nvSpPr>
          <p:spPr>
            <a:xfrm>
              <a:off x="6286500" y="4191000"/>
              <a:ext cx="5372100" cy="914400"/>
            </a:xfrm>
            <a:prstGeom prst="roundRect">
              <a:avLst>
                <a:gd name="adj" fmla="val 12500"/>
              </a:avLst>
            </a:prstGeom>
            <a:solidFill>
              <a:srgbClr val="EAF2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5011" y="4437221"/>
              <a:ext cx="42742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Designing </a:t>
              </a:r>
              <a:r>
                <a:rPr lang="en-US" sz="14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lightweight and expressive</a:t>
              </a:r>
              <a:r>
                <a:rPr lang="en-US" sz="14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 inner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65011" y="4703921"/>
              <a:ext cx="26264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models is an important topic.</a:t>
              </a:r>
            </a:p>
          </p:txBody>
        </p:sp>
      </p:grpSp>
      <p:grpSp>
        <p:nvGrpSpPr>
          <p:cNvPr id="69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67" name="Rectangle 67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515883" y="6590824"/>
            <a:ext cx="147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41029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Model Design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tag-pill"/>
          <p:cNvGrpSpPr/>
          <p:nvPr/>
        </p:nvGrpSpPr>
        <p:grpSpPr>
          <a:xfrm>
            <a:off x="533400" y="1009650"/>
            <a:ext cx="2724150" cy="361950"/>
            <a:chOff x="533400" y="1009650"/>
            <a:chExt cx="2724150" cy="361950"/>
          </a:xfrm>
        </p:grpSpPr>
        <p:sp>
          <p:nvSpPr>
            <p:cNvPr id="9" name="Rectangle 9"/>
            <p:cNvSpPr/>
            <p:nvPr/>
          </p:nvSpPr>
          <p:spPr>
            <a:xfrm>
              <a:off x="533400" y="1009650"/>
              <a:ext cx="2724150" cy="361950"/>
            </a:xfrm>
            <a:prstGeom prst="roundRect">
              <a:avLst>
                <a:gd name="adj" fmla="val 10526"/>
              </a:avLst>
            </a:prstGeom>
            <a:solidFill>
              <a:srgbClr val="1636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6400" y="1110139"/>
              <a:ext cx="1778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5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inner model depth</a:t>
              </a:r>
            </a:p>
          </p:txBody>
        </p:sp>
      </p:grpSp>
      <p:grpSp>
        <p:nvGrpSpPr>
          <p:cNvPr id="15" name="figure-box"/>
          <p:cNvGrpSpPr/>
          <p:nvPr/>
        </p:nvGrpSpPr>
        <p:grpSpPr>
          <a:xfrm>
            <a:off x="533400" y="1619250"/>
            <a:ext cx="5619750" cy="2711053"/>
            <a:chOff x="533400" y="1619250"/>
            <a:chExt cx="5619750" cy="2711053"/>
          </a:xfrm>
        </p:grpSpPr>
        <p:sp>
          <p:nvSpPr>
            <p:cNvPr id="12" name="Rectangle 12"/>
            <p:cNvSpPr/>
            <p:nvPr/>
          </p:nvSpPr>
          <p:spPr>
            <a:xfrm>
              <a:off x="533400" y="1619250"/>
              <a:ext cx="5619750" cy="2400300"/>
            </a:xfrm>
            <a:prstGeom prst="roundRect">
              <a:avLst>
                <a:gd name="adj" fmla="val 3968"/>
              </a:avLst>
            </a:prstGeom>
            <a:solidFill>
              <a:srgbClr val="FBFDFF"/>
            </a:solidFill>
            <a:ln w="14288">
              <a:solidFill>
                <a:srgbClr val="C9D8EC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8401" y="1809750"/>
              <a:ext cx="5229748" cy="19716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712115" y="4146947"/>
              <a:ext cx="52623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Figure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3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: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1/2/3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-layer inner models — deeper means higher training loss (from the paper)</a:t>
              </a:r>
            </a:p>
          </p:txBody>
        </p:sp>
      </p:grpSp>
      <p:grpSp>
        <p:nvGrpSpPr>
          <p:cNvPr id="19" name="insight5-text"/>
          <p:cNvGrpSpPr/>
          <p:nvPr/>
        </p:nvGrpSpPr>
        <p:grpSpPr>
          <a:xfrm>
            <a:off x="6753225" y="1893094"/>
            <a:ext cx="3102916" cy="1090612"/>
            <a:chOff x="6753225" y="1893094"/>
            <a:chExt cx="3102916" cy="1090612"/>
          </a:xfrm>
        </p:grpSpPr>
        <p:sp>
          <p:nvSpPr>
            <p:cNvPr id="16" name="TextBox 16"/>
            <p:cNvSpPr txBox="1"/>
            <p:nvPr/>
          </p:nvSpPr>
          <p:spPr>
            <a:xfrm>
              <a:off x="6753225" y="1893094"/>
              <a:ext cx="276931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Insight </a:t>
              </a:r>
              <a:r>
                <a:rPr lang="en-US" sz="1880" b="1" dirty="0">
                  <a:solidFill>
                    <a:srgbClr val="1D5FA8"/>
                  </a:solidFill>
                  <a:latin typeface="Times New Roman"/>
                  <a:ea typeface="+mn-ea"/>
                  <a:cs typeface="+mn-cs"/>
                </a:rPr>
                <a:t>5</a:t>
              </a:r>
              <a:r>
                <a:rPr lang="en-US" sz="188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:</a:t>
              </a:r>
              <a:r>
                <a:rPr lang="en-US" sz="18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Deep inner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53225" y="2255044"/>
              <a:ext cx="226099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models suffer from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3225" y="2616994"/>
              <a:ext cx="31029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optimization</a:t>
              </a:r>
              <a:r>
                <a:rPr lang="en-US" sz="18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difficulties</a:t>
              </a:r>
            </a:p>
          </p:txBody>
        </p:sp>
      </p:grpSp>
      <p:grpSp>
        <p:nvGrpSpPr>
          <p:cNvPr id="21" name="why-note"/>
          <p:cNvGrpSpPr/>
          <p:nvPr/>
        </p:nvGrpSpPr>
        <p:grpSpPr>
          <a:xfrm>
            <a:off x="6756654" y="3432810"/>
            <a:ext cx="3547034" cy="463296"/>
            <a:chOff x="6756654" y="3432810"/>
            <a:chExt cx="3547034" cy="463296"/>
          </a:xfrm>
        </p:grpSpPr>
        <p:sp>
          <p:nvSpPr>
            <p:cNvPr id="20" name="TextBox 20"/>
            <p:cNvSpPr txBox="1"/>
            <p:nvPr/>
          </p:nvSpPr>
          <p:spPr>
            <a:xfrm>
              <a:off x="6756654" y="3432810"/>
              <a:ext cx="354703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More parameters, yet lower accuracy — deeper inner</a:t>
              </a:r>
              <a:br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modules underfit the training data in practice.</a:t>
              </a:r>
            </a:p>
          </p:txBody>
        </p:sp>
      </p:grpSp>
      <p:grpSp>
        <p:nvGrpSpPr>
          <p:cNvPr id="24" name="outer-bullet"/>
          <p:cNvGrpSpPr/>
          <p:nvPr/>
        </p:nvGrpSpPr>
        <p:grpSpPr>
          <a:xfrm>
            <a:off x="628650" y="4703921"/>
            <a:ext cx="8974109" cy="278702"/>
            <a:chOff x="628650" y="4703921"/>
            <a:chExt cx="8974109" cy="278702"/>
          </a:xfrm>
        </p:grpSpPr>
        <p:sp>
          <p:nvSpPr>
            <p:cNvPr id="22" name="Freeform 22"/>
            <p:cNvSpPr/>
            <p:nvPr/>
          </p:nvSpPr>
          <p:spPr>
            <a:xfrm>
              <a:off x="628650" y="47434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0011" y="4703921"/>
              <a:ext cx="8752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Outer loop: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the initialization W</a:t>
              </a:r>
              <a:r>
                <a:rPr lang="en-US" sz="980" baseline="-2500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0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of a deep inner model becomes difficult to optimize end-to-end</a:t>
              </a:r>
            </a:p>
          </p:txBody>
        </p:sp>
      </p:grpSp>
      <p:grpSp>
        <p:nvGrpSpPr>
          <p:cNvPr id="27" name="inner-bullet"/>
          <p:cNvGrpSpPr/>
          <p:nvPr/>
        </p:nvGrpSpPr>
        <p:grpSpPr>
          <a:xfrm>
            <a:off x="628650" y="5218271"/>
            <a:ext cx="9428158" cy="278702"/>
            <a:chOff x="628650" y="5218271"/>
            <a:chExt cx="9428158" cy="278702"/>
          </a:xfrm>
        </p:grpSpPr>
        <p:sp>
          <p:nvSpPr>
            <p:cNvPr id="25" name="Freeform 25"/>
            <p:cNvSpPr/>
            <p:nvPr/>
          </p:nvSpPr>
          <p:spPr>
            <a:xfrm>
              <a:off x="628650" y="5257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011" y="5218271"/>
              <a:ext cx="9206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loop: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exploding or vanishing inner-loop gradients ∂ℒ/∂W hinder effective compression of K, V</a:t>
              </a:r>
            </a:p>
          </p:txBody>
        </p:sp>
      </p:grpSp>
      <p:grpSp>
        <p:nvGrpSpPr>
          <p:cNvPr id="29" name="mitigation-note"/>
          <p:cNvGrpSpPr/>
          <p:nvPr/>
        </p:nvGrpSpPr>
        <p:grpSpPr>
          <a:xfrm>
            <a:off x="851535" y="5726906"/>
            <a:ext cx="8111195" cy="172355"/>
            <a:chOff x="851535" y="5726906"/>
            <a:chExt cx="8111195" cy="172355"/>
          </a:xfrm>
        </p:grpSpPr>
        <p:sp>
          <p:nvSpPr>
            <p:cNvPr id="28" name="TextBox 28"/>
            <p:cNvSpPr txBox="1"/>
            <p:nvPr/>
          </p:nvSpPr>
          <p:spPr>
            <a:xfrm>
              <a:off x="851535" y="5726906"/>
              <a:ext cx="8111195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Residual connections and naive initialization offer limited mitigation; enabling deep inner models is a promising direction.</a:t>
              </a:r>
            </a:p>
          </p:txBody>
        </p:sp>
      </p:grpSp>
      <p:grpSp>
        <p:nvGrpSpPr>
          <p:cNvPr id="32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30" name="Rectangle 30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6831" y="6590824"/>
            <a:ext cx="146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41029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Inner Model Design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tag-pill"/>
          <p:cNvGrpSpPr/>
          <p:nvPr/>
        </p:nvGrpSpPr>
        <p:grpSpPr>
          <a:xfrm>
            <a:off x="533400" y="1009650"/>
            <a:ext cx="2667000" cy="361950"/>
            <a:chOff x="533400" y="1009650"/>
            <a:chExt cx="2667000" cy="361950"/>
          </a:xfrm>
        </p:grpSpPr>
        <p:sp>
          <p:nvSpPr>
            <p:cNvPr id="9" name="Rectangle 9"/>
            <p:cNvSpPr/>
            <p:nvPr/>
          </p:nvSpPr>
          <p:spPr>
            <a:xfrm>
              <a:off x="533400" y="1009650"/>
              <a:ext cx="2667000" cy="361950"/>
            </a:xfrm>
            <a:prstGeom prst="roundRect">
              <a:avLst>
                <a:gd name="adj" fmla="val 10526"/>
              </a:avLst>
            </a:prstGeom>
            <a:solidFill>
              <a:srgbClr val="1636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8508" y="1110139"/>
              <a:ext cx="1696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280" i="1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6</a:t>
              </a:r>
              <a:r>
                <a:rPr lang="en-US" sz="1280" i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) inner model arch</a:t>
              </a:r>
            </a:p>
          </p:txBody>
        </p:sp>
      </p:grpSp>
      <p:grpSp>
        <p:nvGrpSpPr>
          <p:cNvPr id="14" name="insight-headline"/>
          <p:cNvGrpSpPr/>
          <p:nvPr/>
        </p:nvGrpSpPr>
        <p:grpSpPr>
          <a:xfrm>
            <a:off x="1038987" y="1680686"/>
            <a:ext cx="6583982" cy="661226"/>
            <a:chOff x="1038987" y="1680686"/>
            <a:chExt cx="6583982" cy="661226"/>
          </a:xfrm>
        </p:grpSpPr>
        <p:sp>
          <p:nvSpPr>
            <p:cNvPr id="12" name="TextBox 12"/>
            <p:cNvSpPr txBox="1"/>
            <p:nvPr/>
          </p:nvSpPr>
          <p:spPr>
            <a:xfrm>
              <a:off x="1038987" y="1680686"/>
              <a:ext cx="658398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Insight </a:t>
              </a:r>
              <a:r>
                <a:rPr lang="en-US" sz="1720" b="1" dirty="0">
                  <a:solidFill>
                    <a:srgbClr val="1D5FA8"/>
                  </a:solidFill>
                  <a:latin typeface="Times New Roman"/>
                  <a:ea typeface="+mn-ea"/>
                  <a:cs typeface="+mn-cs"/>
                </a:rPr>
                <a:t>6</a:t>
              </a:r>
              <a:r>
                <a:rPr lang="en-US" sz="17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:</a:t>
              </a:r>
              <a:r>
                <a:rPr lang="en-US" sz="17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72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Convolutional architectures</a:t>
              </a:r>
              <a:r>
                <a:rPr lang="en-US" sz="17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are particularly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987" y="2004536"/>
              <a:ext cx="31238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appropriate for </a:t>
              </a:r>
              <a:r>
                <a:rPr lang="en-US" sz="172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visual TTT</a:t>
              </a:r>
            </a:p>
          </p:txBody>
        </p:sp>
      </p:grpSp>
      <p:grpSp>
        <p:nvGrpSpPr>
          <p:cNvPr id="50" name="mlp-group"/>
          <p:cNvGrpSpPr/>
          <p:nvPr/>
        </p:nvGrpSpPr>
        <p:grpSpPr>
          <a:xfrm>
            <a:off x="1352550" y="2609850"/>
            <a:ext cx="1724025" cy="2270951"/>
            <a:chOff x="1352550" y="2609850"/>
            <a:chExt cx="1724025" cy="2270951"/>
          </a:xfrm>
        </p:grpSpPr>
        <p:grpSp>
          <p:nvGrpSpPr>
            <p:cNvPr id="46" name="mlp-graph"/>
            <p:cNvGrpSpPr/>
            <p:nvPr/>
          </p:nvGrpSpPr>
          <p:grpSpPr>
            <a:xfrm>
              <a:off x="1352550" y="2609850"/>
              <a:ext cx="1724025" cy="1181100"/>
              <a:chOff x="1352550" y="2609850"/>
              <a:chExt cx="1724025" cy="1181100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1428750" y="2686050"/>
                <a:ext cx="5238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71450">
                    <a:moveTo>
                      <a:pt x="0" y="17145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428750" y="2857500"/>
                <a:ext cx="52387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285750">
                    <a:moveTo>
                      <a:pt x="0" y="0"/>
                    </a:moveTo>
                    <a:lnTo>
                      <a:pt x="523875" y="28575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428750" y="2857500"/>
                <a:ext cx="523875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742950">
                    <a:moveTo>
                      <a:pt x="0" y="0"/>
                    </a:moveTo>
                    <a:lnTo>
                      <a:pt x="523875" y="74295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428750" y="2686050"/>
                <a:ext cx="52387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600075">
                    <a:moveTo>
                      <a:pt x="0" y="600075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1428750" y="3143250"/>
                <a:ext cx="523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42875">
                    <a:moveTo>
                      <a:pt x="0" y="142875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428750" y="3286125"/>
                <a:ext cx="52387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314325">
                    <a:moveTo>
                      <a:pt x="0" y="0"/>
                    </a:moveTo>
                    <a:lnTo>
                      <a:pt x="523875" y="314325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428750" y="2686050"/>
                <a:ext cx="52387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028700">
                    <a:moveTo>
                      <a:pt x="0" y="102870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1428750" y="3143250"/>
                <a:ext cx="52387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571500">
                    <a:moveTo>
                      <a:pt x="0" y="57150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1428750" y="3600450"/>
                <a:ext cx="523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14300">
                    <a:moveTo>
                      <a:pt x="0" y="11430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1952625" y="2686050"/>
                <a:ext cx="5238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71450">
                    <a:moveTo>
                      <a:pt x="0" y="0"/>
                    </a:moveTo>
                    <a:lnTo>
                      <a:pt x="523875" y="17145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952625" y="2686050"/>
                <a:ext cx="52387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600075">
                    <a:moveTo>
                      <a:pt x="0" y="0"/>
                    </a:moveTo>
                    <a:lnTo>
                      <a:pt x="523875" y="600075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952625" y="2686050"/>
                <a:ext cx="52387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028700">
                    <a:moveTo>
                      <a:pt x="0" y="0"/>
                    </a:moveTo>
                    <a:lnTo>
                      <a:pt x="523875" y="102870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952625" y="2857500"/>
                <a:ext cx="52387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285750">
                    <a:moveTo>
                      <a:pt x="0" y="28575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1952625" y="3143250"/>
                <a:ext cx="523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42875">
                    <a:moveTo>
                      <a:pt x="0" y="0"/>
                    </a:moveTo>
                    <a:lnTo>
                      <a:pt x="523875" y="142875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952625" y="3143250"/>
                <a:ext cx="52387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571500">
                    <a:moveTo>
                      <a:pt x="0" y="0"/>
                    </a:moveTo>
                    <a:lnTo>
                      <a:pt x="523875" y="57150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952625" y="2857500"/>
                <a:ext cx="523875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742950">
                    <a:moveTo>
                      <a:pt x="0" y="74295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952625" y="3286125"/>
                <a:ext cx="52387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314325">
                    <a:moveTo>
                      <a:pt x="0" y="314325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952625" y="3600450"/>
                <a:ext cx="523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114300">
                    <a:moveTo>
                      <a:pt x="0" y="0"/>
                    </a:moveTo>
                    <a:lnTo>
                      <a:pt x="523875" y="11430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2476500" y="2857500"/>
                <a:ext cx="5238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428625">
                    <a:moveTo>
                      <a:pt x="0" y="0"/>
                    </a:moveTo>
                    <a:lnTo>
                      <a:pt x="523875" y="428625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2476500" y="32861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9525">
                    <a:moveTo>
                      <a:pt x="0" y="0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2476500" y="3286125"/>
                <a:ext cx="5238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428625">
                    <a:moveTo>
                      <a:pt x="0" y="428625"/>
                    </a:moveTo>
                    <a:lnTo>
                      <a:pt x="523875" y="0"/>
                    </a:lnTo>
                  </a:path>
                </a:pathLst>
              </a:custGeom>
              <a:noFill/>
              <a:ln w="17145">
                <a:solidFill>
                  <a:srgbClr val="8A97A8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1352550" y="27813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1352550" y="3209925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1352550" y="36385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1876425" y="26098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876425" y="30670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876425" y="35242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2400300" y="27813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2400300" y="3209925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2400300" y="36385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2924175" y="3209925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7145">
                <a:solidFill>
                  <a:srgbClr val="8A97A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902211" y="3977640"/>
              <a:ext cx="767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MLP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09943" y="4331018"/>
              <a:ext cx="1352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4.58</a:t>
              </a:r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G FLOPs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08851" y="4616768"/>
              <a:ext cx="954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78.9%</a:t>
              </a:r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Acc</a:t>
              </a:r>
            </a:p>
          </p:txBody>
        </p:sp>
      </p:grpSp>
      <p:grpSp>
        <p:nvGrpSpPr>
          <p:cNvPr id="60" name="conv-group"/>
          <p:cNvGrpSpPr/>
          <p:nvPr/>
        </p:nvGrpSpPr>
        <p:grpSpPr>
          <a:xfrm>
            <a:off x="6858000" y="2590800"/>
            <a:ext cx="2914650" cy="2290001"/>
            <a:chOff x="6858000" y="2590800"/>
            <a:chExt cx="2914650" cy="2290001"/>
          </a:xfrm>
        </p:grpSpPr>
        <p:sp>
          <p:nvSpPr>
            <p:cNvPr id="51" name="Freeform 51"/>
            <p:cNvSpPr/>
            <p:nvPr/>
          </p:nvSpPr>
          <p:spPr>
            <a:xfrm>
              <a:off x="6858000" y="2590800"/>
              <a:ext cx="1047750" cy="1047750"/>
            </a:xfrm>
            <a:prstGeom prst="parallelogram">
              <a:avLst/>
            </a:prstGeom>
            <a:solidFill>
              <a:srgbClr val="C7DAF0"/>
            </a:solidFill>
            <a:ln w="14288">
              <a:solidFill>
                <a:srgbClr val="5B8DC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162800" y="2590800"/>
              <a:ext cx="1047750" cy="1047750"/>
            </a:xfrm>
            <a:prstGeom prst="parallelogram">
              <a:avLst/>
            </a:prstGeom>
            <a:solidFill>
              <a:srgbClr val="A6C6E8"/>
            </a:solidFill>
            <a:ln w="14288">
              <a:solidFill>
                <a:srgbClr val="5B8DC4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467600" y="2590800"/>
              <a:ext cx="1047750" cy="1047750"/>
            </a:xfrm>
            <a:prstGeom prst="parallelogram">
              <a:avLst/>
            </a:prstGeom>
            <a:solidFill>
              <a:srgbClr val="84B0DF"/>
            </a:solidFill>
            <a:ln w="14288">
              <a:solidFill>
                <a:srgbClr val="5B8DC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07366" y="3044190"/>
              <a:ext cx="349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8054" indent="-158054" algn="ctr">
                <a:buClr>
                  <a:srgbClr val="8A97A8"/>
                </a:buClr>
                <a:buSzTx/>
                <a:buFontTx/>
                <a:buChar char="•"/>
              </a:pPr>
              <a:r>
                <a:rPr lang="en-US" sz="1800" b="1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··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9010650" y="2781300"/>
              <a:ext cx="533400" cy="685800"/>
            </a:xfrm>
            <a:prstGeom prst="parallelogram">
              <a:avLst/>
            </a:prstGeom>
            <a:solidFill>
              <a:srgbClr val="A6C6E8"/>
            </a:solidFill>
            <a:ln w="14288">
              <a:solidFill>
                <a:srgbClr val="5B8DC4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239250" y="2781300"/>
              <a:ext cx="533400" cy="685800"/>
            </a:xfrm>
            <a:prstGeom prst="parallelogram">
              <a:avLst/>
            </a:prstGeom>
            <a:solidFill>
              <a:srgbClr val="84B0DF"/>
            </a:solidFill>
            <a:ln w="14288">
              <a:solidFill>
                <a:srgbClr val="5B8DC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25368" y="3977640"/>
              <a:ext cx="1313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DWConv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10198" y="4331018"/>
              <a:ext cx="1343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4.25</a:t>
              </a:r>
              <a:r>
                <a:rPr lang="en-US" sz="13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G FLOPs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45423" y="4616768"/>
              <a:ext cx="1073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5FA8"/>
                  </a:solidFill>
                  <a:latin typeface="Times New Roman"/>
                </a:rPr>
                <a:t>80.1</a:t>
              </a:r>
              <a:r>
                <a:rPr lang="en-US" sz="13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% Acc</a:t>
              </a:r>
            </a:p>
          </p:txBody>
        </p:sp>
      </p:grpSp>
      <p:grpSp>
        <p:nvGrpSpPr>
          <p:cNvPr id="62" name="integration-lead"/>
          <p:cNvGrpSpPr/>
          <p:nvPr/>
        </p:nvGrpSpPr>
        <p:grpSpPr>
          <a:xfrm>
            <a:off x="1039749" y="5335429"/>
            <a:ext cx="2569401" cy="308039"/>
            <a:chOff x="1039749" y="5335429"/>
            <a:chExt cx="2569401" cy="308039"/>
          </a:xfrm>
        </p:grpSpPr>
        <p:sp>
          <p:nvSpPr>
            <p:cNvPr id="61" name="TextBox 61"/>
            <p:cNvSpPr txBox="1"/>
            <p:nvPr/>
          </p:nvSpPr>
          <p:spPr>
            <a:xfrm>
              <a:off x="1039749" y="5335429"/>
              <a:ext cx="2569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 natural integration:</a:t>
              </a:r>
            </a:p>
          </p:txBody>
        </p:sp>
      </p:grpSp>
      <p:grpSp>
        <p:nvGrpSpPr>
          <p:cNvPr id="67" name="integration-bullets"/>
          <p:cNvGrpSpPr/>
          <p:nvPr/>
        </p:nvGrpSpPr>
        <p:grpSpPr>
          <a:xfrm>
            <a:off x="4095750" y="5199221"/>
            <a:ext cx="6788205" cy="621602"/>
            <a:chOff x="4095750" y="5199221"/>
            <a:chExt cx="6788205" cy="621602"/>
          </a:xfrm>
        </p:grpSpPr>
        <p:sp>
          <p:nvSpPr>
            <p:cNvPr id="63" name="Freeform 63"/>
            <p:cNvSpPr/>
            <p:nvPr/>
          </p:nvSpPr>
          <p:spPr>
            <a:xfrm>
              <a:off x="4095750" y="52387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17111" y="5199221"/>
              <a:ext cx="65668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Global information: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K, V compressed into the updated kernel weights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4095750" y="55816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317111" y="5542121"/>
              <a:ext cx="47469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Local information: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the convolution receptive field</a:t>
              </a:r>
            </a:p>
          </p:txBody>
        </p:sp>
      </p:grpSp>
      <p:grpSp>
        <p:nvGrpSpPr>
          <p:cNvPr id="70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68" name="Rectangle 68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515005" y="6590824"/>
            <a:ext cx="1485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8323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ViT³: A Test-Time Training Architecture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vit3-name"/>
          <p:cNvGrpSpPr/>
          <p:nvPr/>
        </p:nvGrpSpPr>
        <p:grpSpPr>
          <a:xfrm>
            <a:off x="465421" y="1359694"/>
            <a:ext cx="4784157" cy="632079"/>
            <a:chOff x="465421" y="1359694"/>
            <a:chExt cx="4784157" cy="632079"/>
          </a:xfrm>
        </p:grpSpPr>
        <p:sp>
          <p:nvSpPr>
            <p:cNvPr id="9" name="TextBox 9"/>
            <p:cNvSpPr txBox="1"/>
            <p:nvPr/>
          </p:nvSpPr>
          <p:spPr>
            <a:xfrm>
              <a:off x="465421" y="1359694"/>
              <a:ext cx="478415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Vision Test-Time Training (ViT³)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8731" y="1713071"/>
              <a:ext cx="4157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a </a:t>
              </a:r>
              <a:r>
                <a:rPr lang="en-US" sz="142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pure TTT baseline</a:t>
              </a:r>
              <a:r>
                <a:rPr lang="en-US" sz="142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with linear complexity</a:t>
              </a:r>
            </a:p>
          </p:txBody>
        </p:sp>
      </p:grpSp>
      <p:grpSp>
        <p:nvGrpSpPr>
          <p:cNvPr id="15" name="figure-box"/>
          <p:cNvGrpSpPr/>
          <p:nvPr/>
        </p:nvGrpSpPr>
        <p:grpSpPr>
          <a:xfrm>
            <a:off x="666750" y="2095500"/>
            <a:ext cx="4762500" cy="2577703"/>
            <a:chOff x="666750" y="2095500"/>
            <a:chExt cx="4762500" cy="2577703"/>
          </a:xfrm>
        </p:grpSpPr>
        <p:sp>
          <p:nvSpPr>
            <p:cNvPr id="12" name="Rectangle 12"/>
            <p:cNvSpPr/>
            <p:nvPr/>
          </p:nvSpPr>
          <p:spPr>
            <a:xfrm>
              <a:off x="666750" y="2095500"/>
              <a:ext cx="4762500" cy="2286000"/>
            </a:xfrm>
            <a:prstGeom prst="roundRect">
              <a:avLst>
                <a:gd name="adj" fmla="val 4167"/>
              </a:avLst>
            </a:prstGeom>
            <a:solidFill>
              <a:srgbClr val="FBFDFF"/>
            </a:solidFill>
            <a:ln w="14288">
              <a:solidFill>
                <a:srgbClr val="C9D8EC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085" y="2286000"/>
              <a:ext cx="4565830" cy="18954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548740" y="4489847"/>
              <a:ext cx="299852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Figure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: the TTT building block (from the paper)</a:t>
              </a:r>
            </a:p>
          </p:txBody>
        </p:sp>
      </p:grpSp>
      <p:grpSp>
        <p:nvGrpSpPr>
          <p:cNvPr id="21" name="inner-training-list"/>
          <p:cNvGrpSpPr/>
          <p:nvPr/>
        </p:nvGrpSpPr>
        <p:grpSpPr>
          <a:xfrm>
            <a:off x="6087618" y="1460182"/>
            <a:ext cx="4566352" cy="1414463"/>
            <a:chOff x="6087618" y="1460182"/>
            <a:chExt cx="4566352" cy="1414463"/>
          </a:xfrm>
        </p:grpSpPr>
        <p:sp>
          <p:nvSpPr>
            <p:cNvPr id="16" name="TextBox 16"/>
            <p:cNvSpPr txBox="1"/>
            <p:nvPr/>
          </p:nvSpPr>
          <p:spPr>
            <a:xfrm>
              <a:off x="6087618" y="1460182"/>
              <a:ext cx="1956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Inner Training: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7145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9050">
              <a:solidFill>
                <a:srgbClr val="1D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8380" y="1895475"/>
              <a:ext cx="211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50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1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) </a:t>
              </a:r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dot-product loss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88380" y="2238375"/>
              <a:ext cx="45655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50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2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) </a:t>
              </a:r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full-batch gradient descent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, single epoch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8380" y="2581275"/>
              <a:ext cx="2148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500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3</a:t>
              </a:r>
              <a:r>
                <a:rPr lang="en-US" sz="150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) </a:t>
              </a:r>
              <a:r>
                <a:rPr lang="en-US" sz="150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learning rate </a:t>
              </a:r>
              <a:r>
                <a:rPr lang="en-US" sz="1500" b="1" dirty="0">
                  <a:solidFill>
                    <a:srgbClr val="24303F"/>
                  </a:solidFill>
                  <a:latin typeface="Times New Roman"/>
                  <a:ea typeface="+mn-ea"/>
                  <a:cs typeface="+mn-cs"/>
                </a:rPr>
                <a:t>1.0</a:t>
              </a:r>
            </a:p>
          </p:txBody>
        </p:sp>
      </p:grpSp>
      <p:grpSp>
        <p:nvGrpSpPr>
          <p:cNvPr id="26" name="inner-model-list"/>
          <p:cNvGrpSpPr/>
          <p:nvPr/>
        </p:nvGrpSpPr>
        <p:grpSpPr>
          <a:xfrm>
            <a:off x="6087618" y="3269932"/>
            <a:ext cx="3070653" cy="1122426"/>
            <a:chOff x="6087618" y="3269932"/>
            <a:chExt cx="3070653" cy="1122426"/>
          </a:xfrm>
        </p:grpSpPr>
        <p:sp>
          <p:nvSpPr>
            <p:cNvPr id="22" name="TextBox 22"/>
            <p:cNvSpPr txBox="1"/>
            <p:nvPr/>
          </p:nvSpPr>
          <p:spPr>
            <a:xfrm>
              <a:off x="6087618" y="3269932"/>
              <a:ext cx="16754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6365F"/>
                  </a:solidFill>
                  <a:latin typeface="+mn-lt"/>
                  <a:ea typeface="+mn-ea"/>
                  <a:cs typeface="+mn-cs"/>
                </a:rPr>
                <a:t>Inner Model: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0" y="352425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9050">
              <a:solidFill>
                <a:srgbClr val="16365F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6088380" y="3686175"/>
                  <a:ext cx="3069891" cy="3442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0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(</a:t>
                  </a:r>
                  <a:r>
                    <a:rPr lang="en-US" sz="1500" dirty="0">
                      <a:solidFill>
                        <a:srgbClr val="24303F"/>
                      </a:solidFill>
                      <a:latin typeface="Times New Roman"/>
                      <a:ea typeface="+mn-ea"/>
                      <a:cs typeface="+mn-cs"/>
                    </a:rPr>
                    <a:t>1</a:t>
                  </a:r>
                  <a:r>
                    <a:rPr lang="en-US" sz="150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)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ℱ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FC</m:t>
                      </m:r>
                      <m:d>
                        <m:dPr>
                          <m:ctrlPr>
                            <a:rPr lang="en-US" sz="150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</m:d>
                      <m:r>
                        <a:rPr lang="en-US" sz="150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⊙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SiLU</m:t>
                      </m:r>
                      <m:d>
                        <m:dPr>
                          <m:ctrlPr>
                            <a:rPr lang="en-US" sz="150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FC</m:t>
                          </m:r>
                          <m:d>
                            <m:dPr>
                              <m:ctrlPr>
                                <a:rPr lang="en-US" sz="1500" i="1" dirty="0">
                                  <a:solidFill>
                                    <a:srgbClr val="24303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en-US" sz="1500" dirty="0">
                                  <a:solidFill>
                                    <a:srgbClr val="24303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a14:m>
                  <a:endParaRPr lang="en-US" sz="1500" dirty="0">
                    <a:solidFill>
                      <a:srgbClr val="24303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380" y="3686175"/>
                  <a:ext cx="3069891" cy="344234"/>
                </a:xfrm>
                <a:prstGeom prst="rect">
                  <a:avLst/>
                </a:prstGeom>
                <a:blipFill>
                  <a:blip r:embed="rId5"/>
                  <a:stretch>
                    <a:fillRect l="-3777" t="-14286" b="-3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5"/>
                <p:cNvSpPr txBox="1"/>
                <p:nvPr/>
              </p:nvSpPr>
              <p:spPr>
                <a:xfrm>
                  <a:off x="6088380" y="4057650"/>
                  <a:ext cx="2086912" cy="334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0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(</a:t>
                  </a:r>
                  <a:r>
                    <a:rPr lang="en-US" sz="1500" dirty="0">
                      <a:solidFill>
                        <a:srgbClr val="24303F"/>
                      </a:solidFill>
                      <a:latin typeface="Times New Roman"/>
                      <a:ea typeface="+mn-ea"/>
                      <a:cs typeface="+mn-cs"/>
                    </a:rPr>
                    <a:t>2</a:t>
                  </a:r>
                  <a:r>
                    <a:rPr lang="en-US" sz="1500" dirty="0">
                      <a:solidFill>
                        <a:srgbClr val="24303F"/>
                      </a:solidFill>
                      <a:latin typeface="+mn-lt"/>
                      <a:ea typeface="+mn-ea"/>
                      <a:cs typeface="+mn-cs"/>
                    </a:rPr>
                    <a:t>)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ℱ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24303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DWConv</m:t>
                      </m:r>
                      <m:d>
                        <m:dPr>
                          <m:ctrlPr>
                            <a:rPr lang="en-US" sz="1500" i="1" dirty="0">
                              <a:solidFill>
                                <a:srgbClr val="24303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1500" dirty="0">
                              <a:solidFill>
                                <a:srgbClr val="24303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</m:d>
                    </m:oMath>
                  </a14:m>
                  <a:endParaRPr lang="en-US" sz="1500" dirty="0">
                    <a:solidFill>
                      <a:srgbClr val="24303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380" y="4057650"/>
                  <a:ext cx="2086912" cy="334708"/>
                </a:xfrm>
                <a:prstGeom prst="rect">
                  <a:avLst/>
                </a:prstGeom>
                <a:blipFill>
                  <a:blip r:embed="rId6"/>
                  <a:stretch>
                    <a:fillRect l="-5556" t="-18182" b="-181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family-note"/>
          <p:cNvGrpSpPr/>
          <p:nvPr/>
        </p:nvGrpSpPr>
        <p:grpSpPr>
          <a:xfrm>
            <a:off x="5905500" y="4572000"/>
            <a:ext cx="5753100" cy="1066800"/>
            <a:chOff x="5905500" y="4572000"/>
            <a:chExt cx="5753100" cy="1066800"/>
          </a:xfrm>
        </p:grpSpPr>
        <p:sp>
          <p:nvSpPr>
            <p:cNvPr id="27" name="Rectangle 27"/>
            <p:cNvSpPr/>
            <p:nvPr/>
          </p:nvSpPr>
          <p:spPr>
            <a:xfrm>
              <a:off x="5905500" y="4572000"/>
              <a:ext cx="5753100" cy="1066800"/>
            </a:xfrm>
            <a:prstGeom prst="roundRect">
              <a:avLst>
                <a:gd name="adj" fmla="val 10714"/>
              </a:avLst>
            </a:prstGeom>
            <a:solidFill>
              <a:srgbClr val="EAF2F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8004" y="4766310"/>
              <a:ext cx="4281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 </a:t>
              </a:r>
              <a:r>
                <a:rPr lang="en-US" sz="12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drop-in replacement</a:t>
              </a:r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 for standard attention blocks.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28004" y="5033010"/>
              <a:ext cx="5524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Two families: </a:t>
              </a:r>
              <a:r>
                <a:rPr lang="en-US" sz="12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ViT³</a:t>
              </a:r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 (non-hierarchical) · </a:t>
              </a:r>
              <a:r>
                <a:rPr lang="en-US" sz="12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H-ViT³</a:t>
              </a:r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 (</a:t>
              </a:r>
              <a:r>
                <a:rPr lang="en-US" sz="1200" dirty="0">
                  <a:solidFill>
                    <a:srgbClr val="14355E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-stage hierarchical).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28004" y="5299710"/>
              <a:ext cx="4837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DiT³</a:t>
              </a:r>
              <a:r>
                <a:rPr lang="en-US" sz="120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: adapted to diffusion image Transformers for generation.</a:t>
              </a:r>
            </a:p>
          </p:txBody>
        </p:sp>
      </p:grpSp>
      <p:grpSp>
        <p:nvGrpSpPr>
          <p:cNvPr id="34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32" name="Rectangle 32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520106" y="6590824"/>
            <a:ext cx="1434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8323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ViT³: A Test-Time Training Architecture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lead"/>
          <p:cNvGrpSpPr/>
          <p:nvPr/>
        </p:nvGrpSpPr>
        <p:grpSpPr>
          <a:xfrm>
            <a:off x="952500" y="1022032"/>
            <a:ext cx="6934751" cy="322707"/>
            <a:chOff x="952500" y="1022032"/>
            <a:chExt cx="6934751" cy="322707"/>
          </a:xfrm>
        </p:grpSpPr>
        <p:sp>
          <p:nvSpPr>
            <p:cNvPr id="9" name="Freeform 9"/>
            <p:cNvSpPr/>
            <p:nvPr/>
          </p:nvSpPr>
          <p:spPr>
            <a:xfrm>
              <a:off x="952500" y="108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72718" y="1022032"/>
              <a:ext cx="67145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Matches or outperforms</a:t>
              </a:r>
              <a:r>
                <a:rPr lang="en-US" sz="16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advanced linear-complexity models</a:t>
              </a:r>
            </a:p>
          </p:txBody>
        </p:sp>
      </p:grpSp>
      <p:grpSp>
        <p:nvGrpSpPr>
          <p:cNvPr id="21" name="legend-row"/>
          <p:cNvGrpSpPr/>
          <p:nvPr/>
        </p:nvGrpSpPr>
        <p:grpSpPr>
          <a:xfrm>
            <a:off x="3333750" y="1423988"/>
            <a:ext cx="4681067" cy="211073"/>
            <a:chOff x="3333750" y="1423988"/>
            <a:chExt cx="4681067" cy="211073"/>
          </a:xfrm>
        </p:grpSpPr>
        <p:sp>
          <p:nvSpPr>
            <p:cNvPr id="12" name="Freeform 12"/>
            <p:cNvSpPr/>
            <p:nvPr/>
          </p:nvSpPr>
          <p:spPr>
            <a:xfrm>
              <a:off x="3333750" y="14382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76200"/>
                  </a:lnTo>
                  <a:moveTo>
                    <a:pt x="76200" y="0"/>
                  </a:moveTo>
                  <a:lnTo>
                    <a:pt x="0" y="76200"/>
                  </a:lnTo>
                </a:path>
              </a:pathLst>
            </a:custGeom>
            <a:solidFill>
              <a:srgbClr val="475569"/>
            </a:solidFill>
            <a:ln w="23812">
              <a:solidFill>
                <a:schemeClr val="tx2">
                  <a:lumMod val="40000"/>
                  <a:lumOff val="60000"/>
                </a:scheme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99866" y="1429702"/>
              <a:ext cx="468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CSwin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4252912" y="1423988"/>
              <a:ext cx="104775" cy="104775"/>
            </a:xfrm>
            <a:prstGeom prst="ellipse">
              <a:avLst/>
            </a:prstGeom>
            <a:solidFill>
              <a:srgbClr val="9AA7B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33316" y="1429702"/>
              <a:ext cx="876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InternImage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34012" y="1423988"/>
              <a:ext cx="104775" cy="104775"/>
            </a:xfrm>
            <a:prstGeom prst="ellipse">
              <a:avLst/>
            </a:prstGeom>
            <a:solidFill>
              <a:srgbClr val="3D4A5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14416" y="1429702"/>
              <a:ext cx="657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VMamba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96050" y="14763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1D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577012" y="1423988"/>
              <a:ext cx="104775" cy="104775"/>
            </a:xfrm>
            <a:prstGeom prst="ellipse">
              <a:avLst/>
            </a:prstGeom>
            <a:solidFill>
              <a:srgbClr val="1D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52666" y="1429702"/>
              <a:ext cx="1162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H-ViT³ (ours)</a:t>
              </a:r>
            </a:p>
          </p:txBody>
        </p:sp>
      </p:grpSp>
      <p:grpSp>
        <p:nvGrpSpPr>
          <p:cNvPr id="57" name="cls-acc-chart"/>
          <p:cNvGrpSpPr/>
          <p:nvPr/>
        </p:nvGrpSpPr>
        <p:grpSpPr>
          <a:xfrm>
            <a:off x="327693" y="1893570"/>
            <a:ext cx="3444207" cy="3006281"/>
            <a:chOff x="327693" y="1893570"/>
            <a:chExt cx="3444207" cy="3006281"/>
          </a:xfrm>
        </p:grpSpPr>
        <p:grpSp>
          <p:nvGrpSpPr>
            <p:cNvPr id="55" name="cls-acc-chart-chartArea"/>
            <p:cNvGrpSpPr/>
            <p:nvPr/>
          </p:nvGrpSpPr>
          <p:grpSpPr>
            <a:xfrm>
              <a:off x="327693" y="1893570"/>
              <a:ext cx="3444207" cy="2735294"/>
              <a:chOff x="327693" y="1893570"/>
              <a:chExt cx="3444207" cy="2735294"/>
            </a:xfrm>
          </p:grpSpPr>
          <p:grpSp>
            <p:nvGrpSpPr>
              <p:cNvPr id="26" name="grid"/>
              <p:cNvGrpSpPr/>
              <p:nvPr/>
            </p:nvGrpSpPr>
            <p:grpSpPr>
              <a:xfrm>
                <a:off x="876300" y="1952625"/>
                <a:ext cx="2895600" cy="1695450"/>
                <a:chOff x="876300" y="1952625"/>
                <a:chExt cx="2895600" cy="1695450"/>
              </a:xfrm>
            </p:grpSpPr>
            <p:sp>
              <p:nvSpPr>
                <p:cNvPr id="22" name="Line 22"/>
                <p:cNvSpPr/>
                <p:nvPr/>
              </p:nvSpPr>
              <p:spPr>
                <a:xfrm>
                  <a:off x="876300" y="1952625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876300" y="251460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876300" y="3076575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876300" y="363855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</p:grpSp>
          <p:grpSp>
            <p:nvGrpSpPr>
              <p:cNvPr id="29" name="axes"/>
              <p:cNvGrpSpPr/>
              <p:nvPr/>
            </p:nvGrpSpPr>
            <p:grpSpPr>
              <a:xfrm>
                <a:off x="876300" y="1952625"/>
                <a:ext cx="2895600" cy="2247900"/>
                <a:chOff x="876300" y="1952625"/>
                <a:chExt cx="2895600" cy="2247900"/>
              </a:xfrm>
            </p:grpSpPr>
            <p:sp>
              <p:nvSpPr>
                <p:cNvPr id="27" name="Line 27"/>
                <p:cNvSpPr/>
                <p:nvPr/>
              </p:nvSpPr>
              <p:spPr>
                <a:xfrm>
                  <a:off x="876300" y="1952625"/>
                  <a:ext cx="9525" cy="223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38375">
                      <a:moveTo>
                        <a:pt x="0" y="0"/>
                      </a:moveTo>
                      <a:lnTo>
                        <a:pt x="0" y="2238375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  <p:sp>
              <p:nvSpPr>
                <p:cNvPr id="28" name="Line 28"/>
                <p:cNvSpPr/>
                <p:nvPr/>
              </p:nvSpPr>
              <p:spPr>
                <a:xfrm>
                  <a:off x="876300" y="419100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</p:grpSp>
          <p:grpSp>
            <p:nvGrpSpPr>
              <p:cNvPr id="35" name="y-labels"/>
              <p:cNvGrpSpPr/>
              <p:nvPr/>
            </p:nvGrpSpPr>
            <p:grpSpPr>
              <a:xfrm>
                <a:off x="665620" y="1893570"/>
                <a:ext cx="158293" cy="2414587"/>
                <a:chOff x="665620" y="1893570"/>
                <a:chExt cx="158293" cy="2414587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665620" y="1893570"/>
                  <a:ext cx="15829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86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70434" y="2455545"/>
                  <a:ext cx="15347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85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65748" y="3017520"/>
                  <a:ext cx="15816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84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7425" y="3579495"/>
                  <a:ext cx="15648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83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66555" y="4131945"/>
                  <a:ext cx="157358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82</a:t>
                  </a:r>
                </a:p>
              </p:txBody>
            </p:sp>
          </p:grpSp>
          <p:grpSp>
            <p:nvGrpSpPr>
              <p:cNvPr id="39" name="x-labels"/>
              <p:cNvGrpSpPr/>
              <p:nvPr/>
            </p:nvGrpSpPr>
            <p:grpSpPr>
              <a:xfrm>
                <a:off x="1056797" y="4255770"/>
                <a:ext cx="2333510" cy="176212"/>
                <a:chOff x="1056797" y="4255770"/>
                <a:chExt cx="2333510" cy="176212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1056797" y="4255770"/>
                  <a:ext cx="7715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2138245" y="4255770"/>
                  <a:ext cx="143110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3258143" y="4255770"/>
                  <a:ext cx="13216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15</a:t>
                  </a:r>
                </a:p>
              </p:txBody>
            </p:sp>
          </p:grpSp>
          <p:sp>
            <p:nvSpPr>
              <p:cNvPr id="40" name="TextBox 40"/>
              <p:cNvSpPr txBox="1"/>
              <p:nvPr/>
            </p:nvSpPr>
            <p:spPr>
              <a:xfrm rot="-5400000">
                <a:off x="327693" y="2971705"/>
                <a:ext cx="65830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Top</a:t>
                </a:r>
                <a:r>
                  <a:rPr lang="en-US" sz="980" dirty="0">
                    <a:solidFill>
                      <a:srgbClr val="475569"/>
                    </a:solidFill>
                    <a:latin typeface="Times New Roman"/>
                    <a:ea typeface="+mn-ea"/>
                    <a:cs typeface="+mn-cs"/>
                  </a:rPr>
                  <a:t>-1</a:t>
                </a:r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 (%)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932661" y="4438174"/>
                <a:ext cx="7828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FLOPs (G)</a:t>
                </a:r>
              </a:p>
            </p:txBody>
          </p:sp>
          <p:grpSp>
            <p:nvGrpSpPr>
              <p:cNvPr id="44" name="cswin-series"/>
              <p:cNvGrpSpPr/>
              <p:nvPr/>
            </p:nvGrpSpPr>
            <p:grpSpPr>
              <a:xfrm>
                <a:off x="942975" y="2914650"/>
                <a:ext cx="2428875" cy="314325"/>
                <a:chOff x="942975" y="2914650"/>
                <a:chExt cx="2428875" cy="31432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942975" y="313372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solidFill>
                  <a:srgbClr val="000000"/>
                </a:solidFill>
                <a:ln w="23812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3276600" y="29146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solidFill>
                  <a:srgbClr val="000000"/>
                </a:solidFill>
                <a:ln w="23812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</p:sp>
          </p:grpSp>
          <p:grpSp>
            <p:nvGrpSpPr>
              <p:cNvPr id="47" name="internimage-series"/>
              <p:cNvGrpSpPr/>
              <p:nvPr/>
            </p:nvGrpSpPr>
            <p:grpSpPr>
              <a:xfrm>
                <a:off x="1042988" y="2519362"/>
                <a:ext cx="2571749" cy="885825"/>
                <a:chOff x="1042988" y="2519362"/>
                <a:chExt cx="2571749" cy="885825"/>
              </a:xfrm>
            </p:grpSpPr>
            <p:sp>
              <p:nvSpPr>
                <p:cNvPr id="45" name="Ellipse 45"/>
                <p:cNvSpPr/>
                <p:nvPr/>
              </p:nvSpPr>
              <p:spPr>
                <a:xfrm>
                  <a:off x="1042988" y="3300412"/>
                  <a:ext cx="104775" cy="104775"/>
                </a:xfrm>
                <a:prstGeom prst="ellipse">
                  <a:avLst/>
                </a:prstGeom>
                <a:solidFill>
                  <a:srgbClr val="9AA7B8"/>
                </a:solidFill>
                <a:ln>
                  <a:noFill/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3509962" y="2519362"/>
                  <a:ext cx="104775" cy="104775"/>
                </a:xfrm>
                <a:prstGeom prst="ellipse">
                  <a:avLst/>
                </a:prstGeom>
                <a:solidFill>
                  <a:srgbClr val="9AA7B8"/>
                </a:solidFill>
                <a:ln>
                  <a:noFill/>
                </a:ln>
              </p:spPr>
            </p:sp>
          </p:grpSp>
          <p:grpSp>
            <p:nvGrpSpPr>
              <p:cNvPr id="50" name="vmamba-series"/>
              <p:cNvGrpSpPr/>
              <p:nvPr/>
            </p:nvGrpSpPr>
            <p:grpSpPr>
              <a:xfrm>
                <a:off x="1023938" y="3071812"/>
                <a:ext cx="2447925" cy="895351"/>
                <a:chOff x="1023938" y="3071812"/>
                <a:chExt cx="2447925" cy="895351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1023938" y="3862388"/>
                  <a:ext cx="104775" cy="104775"/>
                </a:xfrm>
                <a:prstGeom prst="ellipse">
                  <a:avLst/>
                </a:prstGeom>
                <a:solidFill>
                  <a:srgbClr val="3D4A5C"/>
                </a:solidFill>
                <a:ln>
                  <a:noFill/>
                </a:ln>
              </p:spPr>
            </p:sp>
            <p:sp>
              <p:nvSpPr>
                <p:cNvPr id="49" name="Ellipse 49"/>
                <p:cNvSpPr/>
                <p:nvPr/>
              </p:nvSpPr>
              <p:spPr>
                <a:xfrm>
                  <a:off x="3367088" y="3071812"/>
                  <a:ext cx="104775" cy="104775"/>
                </a:xfrm>
                <a:prstGeom prst="ellipse">
                  <a:avLst/>
                </a:prstGeom>
                <a:solidFill>
                  <a:srgbClr val="3D4A5C"/>
                </a:solidFill>
                <a:ln>
                  <a:noFill/>
                </a:ln>
              </p:spPr>
            </p:sp>
          </p:grpSp>
          <p:grpSp>
            <p:nvGrpSpPr>
              <p:cNvPr id="54" name="hvit3-series"/>
              <p:cNvGrpSpPr/>
              <p:nvPr/>
            </p:nvGrpSpPr>
            <p:grpSpPr>
              <a:xfrm>
                <a:off x="1019175" y="2171700"/>
                <a:ext cx="2743200" cy="952500"/>
                <a:chOff x="1019175" y="2171700"/>
                <a:chExt cx="2743200" cy="952500"/>
              </a:xfrm>
            </p:grpSpPr>
            <p:sp>
              <p:nvSpPr>
                <p:cNvPr id="51" name="Polyline 51"/>
                <p:cNvSpPr/>
                <p:nvPr/>
              </p:nvSpPr>
              <p:spPr>
                <a:xfrm>
                  <a:off x="1076325" y="2228850"/>
                  <a:ext cx="2628900" cy="83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8900" h="838200">
                      <a:moveTo>
                        <a:pt x="0" y="838200"/>
                      </a:moveTo>
                      <a:lnTo>
                        <a:pt x="2628900" y="0"/>
                      </a:lnTo>
                    </a:path>
                  </a:pathLst>
                </a:custGeom>
                <a:noFill/>
                <a:ln w="28575">
                  <a:solidFill>
                    <a:srgbClr val="1D5FA8"/>
                  </a:solidFill>
                </a:ln>
              </p:spPr>
            </p:sp>
            <p:sp>
              <p:nvSpPr>
                <p:cNvPr id="52" name="Ellipse 52"/>
                <p:cNvSpPr/>
                <p:nvPr/>
              </p:nvSpPr>
              <p:spPr>
                <a:xfrm>
                  <a:off x="1019175" y="3009900"/>
                  <a:ext cx="114300" cy="114300"/>
                </a:xfrm>
                <a:prstGeom prst="ellipse">
                  <a:avLst/>
                </a:prstGeom>
                <a:solidFill>
                  <a:srgbClr val="1D5FA8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53" name="Ellipse 53"/>
                <p:cNvSpPr/>
                <p:nvPr/>
              </p:nvSpPr>
              <p:spPr>
                <a:xfrm>
                  <a:off x="3648075" y="2171700"/>
                  <a:ext cx="114300" cy="114300"/>
                </a:xfrm>
                <a:prstGeom prst="ellipse">
                  <a:avLst/>
                </a:prstGeom>
                <a:solidFill>
                  <a:srgbClr val="1D5FA8"/>
                </a:solidFill>
                <a:ln w="14288">
                  <a:solidFill>
                    <a:srgbClr val="FFFFFF"/>
                  </a:solidFill>
                </a:ln>
              </p:spPr>
            </p:sp>
          </p:grpSp>
        </p:grpSp>
        <p:sp>
          <p:nvSpPr>
            <p:cNvPr id="56" name="TextBox 56"/>
            <p:cNvSpPr txBox="1"/>
            <p:nvPr/>
          </p:nvSpPr>
          <p:spPr>
            <a:xfrm>
              <a:off x="1467327" y="4635818"/>
              <a:ext cx="1713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(a) Classification</a:t>
              </a:r>
            </a:p>
          </p:txBody>
        </p:sp>
      </p:grpSp>
      <p:grpSp>
        <p:nvGrpSpPr>
          <p:cNvPr id="92" name="det-ap-chart"/>
          <p:cNvGrpSpPr/>
          <p:nvPr/>
        </p:nvGrpSpPr>
        <p:grpSpPr>
          <a:xfrm>
            <a:off x="4145020" y="1952625"/>
            <a:ext cx="3303530" cy="2947226"/>
            <a:chOff x="4145020" y="1952625"/>
            <a:chExt cx="3303530" cy="2947226"/>
          </a:xfrm>
        </p:grpSpPr>
        <p:grpSp>
          <p:nvGrpSpPr>
            <p:cNvPr id="90" name="det-ap-chart-chartArea"/>
            <p:cNvGrpSpPr/>
            <p:nvPr/>
          </p:nvGrpSpPr>
          <p:grpSpPr>
            <a:xfrm>
              <a:off x="4145020" y="1952625"/>
              <a:ext cx="3303530" cy="2676239"/>
              <a:chOff x="4145020" y="1952625"/>
              <a:chExt cx="3303530" cy="2676239"/>
            </a:xfrm>
          </p:grpSpPr>
          <p:grpSp>
            <p:nvGrpSpPr>
              <p:cNvPr id="62" name="grid"/>
              <p:cNvGrpSpPr/>
              <p:nvPr/>
            </p:nvGrpSpPr>
            <p:grpSpPr>
              <a:xfrm>
                <a:off x="4552950" y="2171700"/>
                <a:ext cx="2895600" cy="1695450"/>
                <a:chOff x="4552950" y="2171700"/>
                <a:chExt cx="2895600" cy="1695450"/>
              </a:xfrm>
            </p:grpSpPr>
            <p:sp>
              <p:nvSpPr>
                <p:cNvPr id="58" name="Line 58"/>
                <p:cNvSpPr/>
                <p:nvPr/>
              </p:nvSpPr>
              <p:spPr>
                <a:xfrm>
                  <a:off x="4552950" y="217170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59" name="Line 59"/>
                <p:cNvSpPr/>
                <p:nvPr/>
              </p:nvSpPr>
              <p:spPr>
                <a:xfrm>
                  <a:off x="4552950" y="2733675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60" name="Line 60"/>
                <p:cNvSpPr/>
                <p:nvPr/>
              </p:nvSpPr>
              <p:spPr>
                <a:xfrm>
                  <a:off x="4552950" y="329565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61" name="Line 61"/>
                <p:cNvSpPr/>
                <p:nvPr/>
              </p:nvSpPr>
              <p:spPr>
                <a:xfrm>
                  <a:off x="4552950" y="3857625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</p:grpSp>
          <p:grpSp>
            <p:nvGrpSpPr>
              <p:cNvPr id="65" name="axes"/>
              <p:cNvGrpSpPr/>
              <p:nvPr/>
            </p:nvGrpSpPr>
            <p:grpSpPr>
              <a:xfrm>
                <a:off x="4552950" y="1952625"/>
                <a:ext cx="2895600" cy="2247900"/>
                <a:chOff x="4552950" y="1952625"/>
                <a:chExt cx="2895600" cy="2247900"/>
              </a:xfrm>
            </p:grpSpPr>
            <p:sp>
              <p:nvSpPr>
                <p:cNvPr id="63" name="Line 63"/>
                <p:cNvSpPr/>
                <p:nvPr/>
              </p:nvSpPr>
              <p:spPr>
                <a:xfrm>
                  <a:off x="4552950" y="1952625"/>
                  <a:ext cx="9525" cy="223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38375">
                      <a:moveTo>
                        <a:pt x="0" y="0"/>
                      </a:moveTo>
                      <a:lnTo>
                        <a:pt x="0" y="2238375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  <p:sp>
              <p:nvSpPr>
                <p:cNvPr id="64" name="Line 64"/>
                <p:cNvSpPr/>
                <p:nvPr/>
              </p:nvSpPr>
              <p:spPr>
                <a:xfrm>
                  <a:off x="4552950" y="419100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</p:grpSp>
          <p:grpSp>
            <p:nvGrpSpPr>
              <p:cNvPr id="70" name="y-labels"/>
              <p:cNvGrpSpPr/>
              <p:nvPr/>
            </p:nvGrpSpPr>
            <p:grpSpPr>
              <a:xfrm>
                <a:off x="4342398" y="2112645"/>
                <a:ext cx="158164" cy="1862137"/>
                <a:chOff x="4342398" y="2112645"/>
                <a:chExt cx="158164" cy="1862137"/>
              </a:xfrm>
            </p:grpSpPr>
            <p:sp>
              <p:nvSpPr>
                <p:cNvPr id="66" name="TextBox 66"/>
                <p:cNvSpPr txBox="1"/>
                <p:nvPr/>
              </p:nvSpPr>
              <p:spPr>
                <a:xfrm>
                  <a:off x="4344830" y="2112645"/>
                  <a:ext cx="15573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50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4346277" y="2674620"/>
                  <a:ext cx="15428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49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4342398" y="3236595"/>
                  <a:ext cx="15816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48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4354406" y="3798570"/>
                  <a:ext cx="14615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47</a:t>
                  </a:r>
                </a:p>
              </p:txBody>
            </p:sp>
          </p:grpSp>
          <p:grpSp>
            <p:nvGrpSpPr>
              <p:cNvPr id="74" name="x-labels"/>
              <p:cNvGrpSpPr/>
              <p:nvPr/>
            </p:nvGrpSpPr>
            <p:grpSpPr>
              <a:xfrm>
                <a:off x="4624792" y="4255770"/>
                <a:ext cx="2169387" cy="176212"/>
                <a:chOff x="4624792" y="4255770"/>
                <a:chExt cx="2169387" cy="176212"/>
              </a:xfrm>
            </p:grpSpPr>
            <p:sp>
              <p:nvSpPr>
                <p:cNvPr id="71" name="TextBox 71"/>
                <p:cNvSpPr txBox="1"/>
                <p:nvPr/>
              </p:nvSpPr>
              <p:spPr>
                <a:xfrm>
                  <a:off x="4624792" y="4255770"/>
                  <a:ext cx="23731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300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5595503" y="4255770"/>
                  <a:ext cx="23899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400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6559871" y="4255770"/>
                  <a:ext cx="234308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500</a:t>
                  </a:r>
                </a:p>
              </p:txBody>
            </p:sp>
          </p:grpSp>
          <p:sp>
            <p:nvSpPr>
              <p:cNvPr id="75" name="TextBox 75"/>
              <p:cNvSpPr txBox="1"/>
              <p:nvPr/>
            </p:nvSpPr>
            <p:spPr>
              <a:xfrm rot="-5400000">
                <a:off x="4145020" y="2971705"/>
                <a:ext cx="3197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APᵇ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609311" y="4438174"/>
                <a:ext cx="7828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FLOPs (G)</a:t>
                </a:r>
              </a:p>
            </p:txBody>
          </p:sp>
          <p:grpSp>
            <p:nvGrpSpPr>
              <p:cNvPr id="79" name="cswin-series"/>
              <p:cNvGrpSpPr/>
              <p:nvPr/>
            </p:nvGrpSpPr>
            <p:grpSpPr>
              <a:xfrm>
                <a:off x="4781550" y="2857500"/>
                <a:ext cx="2486025" cy="1209675"/>
                <a:chOff x="4781550" y="2857500"/>
                <a:chExt cx="2486025" cy="1209675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4781550" y="397192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solidFill>
                  <a:srgbClr val="000000"/>
                </a:solidFill>
                <a:ln w="23812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7172325" y="28575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  <a:moveTo>
                        <a:pt x="95250" y="0"/>
                      </a:moveTo>
                      <a:lnTo>
                        <a:pt x="0" y="95250"/>
                      </a:lnTo>
                    </a:path>
                  </a:pathLst>
                </a:custGeom>
                <a:solidFill>
                  <a:srgbClr val="000000"/>
                </a:solidFill>
                <a:ln w="23812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</p:sp>
          </p:grpSp>
          <p:grpSp>
            <p:nvGrpSpPr>
              <p:cNvPr id="82" name="internimage-series"/>
              <p:cNvGrpSpPr/>
              <p:nvPr/>
            </p:nvGrpSpPr>
            <p:grpSpPr>
              <a:xfrm>
                <a:off x="4691062" y="2795588"/>
                <a:ext cx="2333625" cy="1000125"/>
                <a:chOff x="4691062" y="2795588"/>
                <a:chExt cx="2333625" cy="1000125"/>
              </a:xfrm>
            </p:grpSpPr>
            <p:sp>
              <p:nvSpPr>
                <p:cNvPr id="80" name="Ellipse 80"/>
                <p:cNvSpPr/>
                <p:nvPr/>
              </p:nvSpPr>
              <p:spPr>
                <a:xfrm>
                  <a:off x="4691062" y="3690938"/>
                  <a:ext cx="104775" cy="104775"/>
                </a:xfrm>
                <a:prstGeom prst="ellipse">
                  <a:avLst/>
                </a:prstGeom>
                <a:solidFill>
                  <a:srgbClr val="9AA7B8"/>
                </a:solidFill>
                <a:ln>
                  <a:noFill/>
                </a:ln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6919912" y="2795588"/>
                  <a:ext cx="104775" cy="104775"/>
                </a:xfrm>
                <a:prstGeom prst="ellipse">
                  <a:avLst/>
                </a:prstGeom>
                <a:solidFill>
                  <a:srgbClr val="9AA7B8"/>
                </a:solidFill>
                <a:ln>
                  <a:noFill/>
                </a:ln>
              </p:spPr>
            </p:sp>
          </p:grpSp>
          <p:grpSp>
            <p:nvGrpSpPr>
              <p:cNvPr id="85" name="vmamba-series"/>
              <p:cNvGrpSpPr/>
              <p:nvPr/>
            </p:nvGrpSpPr>
            <p:grpSpPr>
              <a:xfrm>
                <a:off x="4700588" y="2576512"/>
                <a:ext cx="2162175" cy="1162051"/>
                <a:chOff x="4700588" y="2576512"/>
                <a:chExt cx="2162175" cy="1162051"/>
              </a:xfrm>
            </p:grpSpPr>
            <p:sp>
              <p:nvSpPr>
                <p:cNvPr id="83" name="Ellipse 83"/>
                <p:cNvSpPr/>
                <p:nvPr/>
              </p:nvSpPr>
              <p:spPr>
                <a:xfrm>
                  <a:off x="4700588" y="3633788"/>
                  <a:ext cx="104775" cy="104775"/>
                </a:xfrm>
                <a:prstGeom prst="ellipse">
                  <a:avLst/>
                </a:prstGeom>
                <a:solidFill>
                  <a:srgbClr val="3D4A5C"/>
                </a:solidFill>
                <a:ln>
                  <a:noFill/>
                </a:ln>
              </p:spPr>
            </p:sp>
            <p:sp>
              <p:nvSpPr>
                <p:cNvPr id="84" name="Ellipse 84"/>
                <p:cNvSpPr/>
                <p:nvPr/>
              </p:nvSpPr>
              <p:spPr>
                <a:xfrm>
                  <a:off x="6757988" y="2576512"/>
                  <a:ext cx="104775" cy="104775"/>
                </a:xfrm>
                <a:prstGeom prst="ellipse">
                  <a:avLst/>
                </a:prstGeom>
                <a:solidFill>
                  <a:srgbClr val="3D4A5C"/>
                </a:solidFill>
                <a:ln>
                  <a:noFill/>
                </a:ln>
              </p:spPr>
            </p:sp>
          </p:grpSp>
          <p:grpSp>
            <p:nvGrpSpPr>
              <p:cNvPr id="89" name="hvit3-series"/>
              <p:cNvGrpSpPr/>
              <p:nvPr/>
            </p:nvGrpSpPr>
            <p:grpSpPr>
              <a:xfrm>
                <a:off x="4695825" y="2114550"/>
                <a:ext cx="2428875" cy="1628775"/>
                <a:chOff x="4695825" y="2114550"/>
                <a:chExt cx="2428875" cy="1628775"/>
              </a:xfrm>
            </p:grpSpPr>
            <p:sp>
              <p:nvSpPr>
                <p:cNvPr id="86" name="Polyline 86"/>
                <p:cNvSpPr/>
                <p:nvPr/>
              </p:nvSpPr>
              <p:spPr>
                <a:xfrm>
                  <a:off x="4752975" y="2171700"/>
                  <a:ext cx="2314575" cy="151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4575" h="1514475">
                      <a:moveTo>
                        <a:pt x="0" y="1514475"/>
                      </a:moveTo>
                      <a:lnTo>
                        <a:pt x="2314575" y="0"/>
                      </a:lnTo>
                    </a:path>
                  </a:pathLst>
                </a:custGeom>
                <a:noFill/>
                <a:ln w="28575">
                  <a:solidFill>
                    <a:srgbClr val="1D5FA8"/>
                  </a:solidFill>
                </a:ln>
              </p:spPr>
            </p:sp>
            <p:sp>
              <p:nvSpPr>
                <p:cNvPr id="87" name="Ellipse 87"/>
                <p:cNvSpPr/>
                <p:nvPr/>
              </p:nvSpPr>
              <p:spPr>
                <a:xfrm>
                  <a:off x="4695825" y="3629025"/>
                  <a:ext cx="114300" cy="114300"/>
                </a:xfrm>
                <a:prstGeom prst="ellipse">
                  <a:avLst/>
                </a:prstGeom>
                <a:solidFill>
                  <a:srgbClr val="1D5FA8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88" name="Ellipse 88"/>
                <p:cNvSpPr/>
                <p:nvPr/>
              </p:nvSpPr>
              <p:spPr>
                <a:xfrm>
                  <a:off x="7010400" y="2114550"/>
                  <a:ext cx="114300" cy="114300"/>
                </a:xfrm>
                <a:prstGeom prst="ellipse">
                  <a:avLst/>
                </a:prstGeom>
                <a:solidFill>
                  <a:srgbClr val="1D5FA8"/>
                </a:solidFill>
                <a:ln w="14288">
                  <a:solidFill>
                    <a:srgbClr val="FFFFFF"/>
                  </a:solidFill>
                </a:ln>
              </p:spPr>
            </p:sp>
          </p:grpSp>
        </p:grpSp>
        <p:sp>
          <p:nvSpPr>
            <p:cNvPr id="91" name="TextBox 91"/>
            <p:cNvSpPr txBox="1"/>
            <p:nvPr/>
          </p:nvSpPr>
          <p:spPr>
            <a:xfrm>
              <a:off x="5329374" y="4635818"/>
              <a:ext cx="1342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(b) Detection</a:t>
              </a:r>
            </a:p>
          </p:txBody>
        </p:sp>
      </p:grpSp>
      <p:grpSp>
        <p:nvGrpSpPr>
          <p:cNvPr id="122" name="gen-fid-chart"/>
          <p:cNvGrpSpPr/>
          <p:nvPr/>
        </p:nvGrpSpPr>
        <p:grpSpPr>
          <a:xfrm>
            <a:off x="7724495" y="1952625"/>
            <a:ext cx="3400705" cy="3123914"/>
            <a:chOff x="7724495" y="1952625"/>
            <a:chExt cx="3400705" cy="3123914"/>
          </a:xfrm>
        </p:grpSpPr>
        <p:grpSp>
          <p:nvGrpSpPr>
            <p:cNvPr id="119" name="gen-fid-chart-chartArea"/>
            <p:cNvGrpSpPr/>
            <p:nvPr/>
          </p:nvGrpSpPr>
          <p:grpSpPr>
            <a:xfrm>
              <a:off x="7724495" y="1952625"/>
              <a:ext cx="3400705" cy="2676239"/>
              <a:chOff x="7724495" y="1952625"/>
              <a:chExt cx="3400705" cy="2676239"/>
            </a:xfrm>
          </p:grpSpPr>
          <p:grpSp>
            <p:nvGrpSpPr>
              <p:cNvPr id="95" name="grid"/>
              <p:cNvGrpSpPr/>
              <p:nvPr/>
            </p:nvGrpSpPr>
            <p:grpSpPr>
              <a:xfrm>
                <a:off x="8229600" y="2362200"/>
                <a:ext cx="2895600" cy="857250"/>
                <a:chOff x="8229600" y="2362200"/>
                <a:chExt cx="2895600" cy="857250"/>
              </a:xfrm>
            </p:grpSpPr>
            <p:sp>
              <p:nvSpPr>
                <p:cNvPr id="93" name="Line 93"/>
                <p:cNvSpPr/>
                <p:nvPr/>
              </p:nvSpPr>
              <p:spPr>
                <a:xfrm>
                  <a:off x="8229600" y="236220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  <p:sp>
              <p:nvSpPr>
                <p:cNvPr id="94" name="Line 94"/>
                <p:cNvSpPr/>
                <p:nvPr/>
              </p:nvSpPr>
              <p:spPr>
                <a:xfrm>
                  <a:off x="8229600" y="3209925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9525">
                  <a:solidFill>
                    <a:srgbClr val="E3EBF5"/>
                  </a:solidFill>
                </a:ln>
              </p:spPr>
            </p:sp>
          </p:grpSp>
          <p:grpSp>
            <p:nvGrpSpPr>
              <p:cNvPr id="98" name="axes"/>
              <p:cNvGrpSpPr/>
              <p:nvPr/>
            </p:nvGrpSpPr>
            <p:grpSpPr>
              <a:xfrm>
                <a:off x="8229600" y="1952625"/>
                <a:ext cx="2895600" cy="2247900"/>
                <a:chOff x="8229600" y="1952625"/>
                <a:chExt cx="2895600" cy="2247900"/>
              </a:xfrm>
            </p:grpSpPr>
            <p:sp>
              <p:nvSpPr>
                <p:cNvPr id="96" name="Line 96"/>
                <p:cNvSpPr/>
                <p:nvPr/>
              </p:nvSpPr>
              <p:spPr>
                <a:xfrm>
                  <a:off x="8229600" y="1952625"/>
                  <a:ext cx="9525" cy="223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38375">
                      <a:moveTo>
                        <a:pt x="0" y="0"/>
                      </a:moveTo>
                      <a:lnTo>
                        <a:pt x="0" y="2238375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  <p:sp>
              <p:nvSpPr>
                <p:cNvPr id="97" name="Line 97"/>
                <p:cNvSpPr/>
                <p:nvPr/>
              </p:nvSpPr>
              <p:spPr>
                <a:xfrm>
                  <a:off x="8229600" y="4191000"/>
                  <a:ext cx="289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600" h="9525">
                      <a:moveTo>
                        <a:pt x="0" y="0"/>
                      </a:moveTo>
                      <a:lnTo>
                        <a:pt x="2895600" y="0"/>
                      </a:lnTo>
                    </a:path>
                  </a:pathLst>
                </a:custGeom>
                <a:noFill/>
                <a:ln w="14288">
                  <a:solidFill>
                    <a:srgbClr val="94A3B8"/>
                  </a:solidFill>
                </a:ln>
              </p:spPr>
            </p:sp>
          </p:grpSp>
          <p:grpSp>
            <p:nvGrpSpPr>
              <p:cNvPr id="102" name="y-labels"/>
              <p:cNvGrpSpPr/>
              <p:nvPr/>
            </p:nvGrpSpPr>
            <p:grpSpPr>
              <a:xfrm>
                <a:off x="8016667" y="2303145"/>
                <a:ext cx="160545" cy="1862137"/>
                <a:chOff x="8016667" y="2303145"/>
                <a:chExt cx="160545" cy="1862137"/>
              </a:xfrm>
            </p:grpSpPr>
            <p:sp>
              <p:nvSpPr>
                <p:cNvPr id="99" name="TextBox 99"/>
                <p:cNvSpPr txBox="1"/>
                <p:nvPr/>
              </p:nvSpPr>
              <p:spPr>
                <a:xfrm>
                  <a:off x="8016667" y="2303145"/>
                  <a:ext cx="16054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60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8021480" y="3150870"/>
                  <a:ext cx="15573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50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8016795" y="3989070"/>
                  <a:ext cx="16041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40</a:t>
                  </a:r>
                </a:p>
              </p:txBody>
            </p:sp>
          </p:grpSp>
          <p:grpSp>
            <p:nvGrpSpPr>
              <p:cNvPr id="106" name="x-labels"/>
              <p:cNvGrpSpPr/>
              <p:nvPr/>
            </p:nvGrpSpPr>
            <p:grpSpPr>
              <a:xfrm>
                <a:off x="9024820" y="4255770"/>
                <a:ext cx="1599161" cy="176212"/>
                <a:chOff x="9024820" y="4255770"/>
                <a:chExt cx="1599161" cy="176212"/>
              </a:xfrm>
            </p:grpSpPr>
            <p:sp>
              <p:nvSpPr>
                <p:cNvPr id="103" name="TextBox 103"/>
                <p:cNvSpPr txBox="1"/>
                <p:nvPr/>
              </p:nvSpPr>
              <p:spPr>
                <a:xfrm>
                  <a:off x="9024820" y="4255770"/>
                  <a:ext cx="143110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10</a:t>
                  </a:r>
                </a:p>
              </p:txBody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9754193" y="4255770"/>
                  <a:ext cx="13216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15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10464370" y="4255770"/>
                  <a:ext cx="15961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64748B"/>
                      </a:solidFill>
                      <a:latin typeface="Times New Roman"/>
                      <a:ea typeface="+mn-ea"/>
                      <a:cs typeface="+mn-cs"/>
                    </a:rPr>
                    <a:t>20</a:t>
                  </a:r>
                </a:p>
              </p:txBody>
            </p:sp>
          </p:grpSp>
          <p:sp>
            <p:nvSpPr>
              <p:cNvPr id="107" name="TextBox 107"/>
              <p:cNvSpPr txBox="1"/>
              <p:nvPr/>
            </p:nvSpPr>
            <p:spPr>
              <a:xfrm rot="-5400000">
                <a:off x="7724495" y="2971705"/>
                <a:ext cx="5141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FID ↓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9285961" y="4438174"/>
                <a:ext cx="7828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FLOPs (G)</a:t>
                </a:r>
              </a:p>
            </p:txBody>
          </p:sp>
          <p:grpSp>
            <p:nvGrpSpPr>
              <p:cNvPr id="113" name="dit-series"/>
              <p:cNvGrpSpPr/>
              <p:nvPr/>
            </p:nvGrpSpPr>
            <p:grpSpPr>
              <a:xfrm>
                <a:off x="8405812" y="2009299"/>
                <a:ext cx="2628901" cy="1853088"/>
                <a:chOff x="8405812" y="2009299"/>
                <a:chExt cx="2628901" cy="1853088"/>
              </a:xfrm>
            </p:grpSpPr>
            <p:sp>
              <p:nvSpPr>
                <p:cNvPr id="109" name="Polyline 109"/>
                <p:cNvSpPr/>
                <p:nvPr/>
              </p:nvSpPr>
              <p:spPr>
                <a:xfrm>
                  <a:off x="8458200" y="2066925"/>
                  <a:ext cx="2524125" cy="174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1743075">
                      <a:moveTo>
                        <a:pt x="0" y="0"/>
                      </a:moveTo>
                      <a:lnTo>
                        <a:pt x="2524125" y="1743075"/>
                      </a:lnTo>
                    </a:path>
                  </a:pathLst>
                </a:custGeom>
                <a:noFill/>
                <a:ln w="28575">
                  <a:solidFill>
                    <a:srgbClr val="6B7686"/>
                  </a:solidFill>
                </a:ln>
              </p:spPr>
            </p:sp>
            <p:sp>
              <p:nvSpPr>
                <p:cNvPr id="110" name="Ellipse 110"/>
                <p:cNvSpPr/>
                <p:nvPr/>
              </p:nvSpPr>
              <p:spPr>
                <a:xfrm>
                  <a:off x="8405812" y="2014538"/>
                  <a:ext cx="104775" cy="104775"/>
                </a:xfrm>
                <a:prstGeom prst="ellipse">
                  <a:avLst/>
                </a:prstGeom>
                <a:solidFill>
                  <a:srgbClr val="6B7686"/>
                </a:solidFill>
                <a:ln>
                  <a:noFill/>
                </a:ln>
              </p:spPr>
            </p:sp>
            <p:sp>
              <p:nvSpPr>
                <p:cNvPr id="111" name="Ellipse 111"/>
                <p:cNvSpPr/>
                <p:nvPr/>
              </p:nvSpPr>
              <p:spPr>
                <a:xfrm>
                  <a:off x="10929938" y="3757612"/>
                  <a:ext cx="104775" cy="104775"/>
                </a:xfrm>
                <a:prstGeom prst="ellipse">
                  <a:avLst/>
                </a:prstGeom>
                <a:solidFill>
                  <a:srgbClr val="6B7686"/>
                </a:solidFill>
                <a:ln>
                  <a:noFill/>
                </a:ln>
              </p:spPr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8681847" y="2009299"/>
                  <a:ext cx="44490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dirty="0">
                      <a:solidFill>
                        <a:srgbClr val="6B7686"/>
                      </a:solidFill>
                      <a:latin typeface="+mn-lt"/>
                      <a:ea typeface="+mn-ea"/>
                      <a:cs typeface="+mn-cs"/>
                    </a:rPr>
                    <a:t>DiT-B</a:t>
                  </a:r>
                </a:p>
              </p:txBody>
            </p:sp>
          </p:grpSp>
          <p:grpSp>
            <p:nvGrpSpPr>
              <p:cNvPr id="118" name="dit3-series"/>
              <p:cNvGrpSpPr/>
              <p:nvPr/>
            </p:nvGrpSpPr>
            <p:grpSpPr>
              <a:xfrm>
                <a:off x="8448675" y="2228850"/>
                <a:ext cx="2638425" cy="1924050"/>
                <a:chOff x="8448675" y="2228850"/>
                <a:chExt cx="2638425" cy="1924050"/>
              </a:xfrm>
            </p:grpSpPr>
            <p:sp>
              <p:nvSpPr>
                <p:cNvPr id="114" name="Polyline 114"/>
                <p:cNvSpPr/>
                <p:nvPr/>
              </p:nvSpPr>
              <p:spPr>
                <a:xfrm>
                  <a:off x="8505825" y="2286000"/>
                  <a:ext cx="2524125" cy="180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1809750">
                      <a:moveTo>
                        <a:pt x="0" y="0"/>
                      </a:moveTo>
                      <a:lnTo>
                        <a:pt x="2524125" y="1809750"/>
                      </a:lnTo>
                    </a:path>
                  </a:pathLst>
                </a:custGeom>
                <a:noFill/>
                <a:ln w="28575">
                  <a:solidFill>
                    <a:srgbClr val="1D5FA8"/>
                  </a:solidFill>
                </a:ln>
              </p:spPr>
            </p:sp>
            <p:sp>
              <p:nvSpPr>
                <p:cNvPr id="115" name="Ellipse 115"/>
                <p:cNvSpPr/>
                <p:nvPr/>
              </p:nvSpPr>
              <p:spPr>
                <a:xfrm>
                  <a:off x="8448675" y="2228850"/>
                  <a:ext cx="114300" cy="114300"/>
                </a:xfrm>
                <a:prstGeom prst="ellipse">
                  <a:avLst/>
                </a:prstGeom>
                <a:solidFill>
                  <a:srgbClr val="1D5FA8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116" name="Ellipse 116"/>
                <p:cNvSpPr/>
                <p:nvPr/>
              </p:nvSpPr>
              <p:spPr>
                <a:xfrm>
                  <a:off x="10972800" y="4038600"/>
                  <a:ext cx="114300" cy="114300"/>
                </a:xfrm>
                <a:prstGeom prst="ellipse">
                  <a:avLst/>
                </a:prstGeom>
                <a:solidFill>
                  <a:srgbClr val="1D5FA8"/>
                </a:solidFill>
                <a:ln w="14288">
                  <a:solidFill>
                    <a:srgbClr val="FFFFFF"/>
                  </a:solidFill>
                </a:ln>
              </p:spPr>
            </p:sp>
            <p:sp>
              <p:nvSpPr>
                <p:cNvPr id="117" name="TextBox 117"/>
                <p:cNvSpPr txBox="1"/>
                <p:nvPr/>
              </p:nvSpPr>
              <p:spPr>
                <a:xfrm>
                  <a:off x="8582088" y="2680955"/>
                  <a:ext cx="5858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980" b="1" dirty="0">
                      <a:solidFill>
                        <a:srgbClr val="1D5FA8"/>
                      </a:solidFill>
                      <a:latin typeface="+mn-lt"/>
                      <a:ea typeface="+mn-ea"/>
                      <a:cs typeface="+mn-cs"/>
                    </a:rPr>
                    <a:t>DiT³-B</a:t>
                  </a:r>
                </a:p>
              </p:txBody>
            </p:sp>
          </p:grpSp>
        </p:grpSp>
        <p:sp>
          <p:nvSpPr>
            <p:cNvPr id="120" name="TextBox 120"/>
            <p:cNvSpPr txBox="1"/>
            <p:nvPr/>
          </p:nvSpPr>
          <p:spPr>
            <a:xfrm>
              <a:off x="8935279" y="4635818"/>
              <a:ext cx="1484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(c) Generation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171210" y="4885849"/>
              <a:ext cx="1012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i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(lower is better)</a:t>
              </a:r>
            </a:p>
          </p:txBody>
        </p:sp>
      </p:grpSp>
      <p:grpSp>
        <p:nvGrpSpPr>
          <p:cNvPr id="124" name="data-note"/>
          <p:cNvGrpSpPr/>
          <p:nvPr/>
        </p:nvGrpSpPr>
        <p:grpSpPr>
          <a:xfrm>
            <a:off x="1657302" y="5247799"/>
            <a:ext cx="8877397" cy="190690"/>
            <a:chOff x="1657302" y="5247799"/>
            <a:chExt cx="8877397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1657302" y="5247799"/>
              <a:ext cx="88773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Data: Tables </a:t>
              </a:r>
              <a:r>
                <a:rPr lang="en-US" sz="98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5,</a:t>
              </a:r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98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8,</a:t>
              </a:r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98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10</a:t>
              </a:r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of the paper — hierarchical backbones; H-ViT³-T/B classification uses MESA training; detection uses Mask R-CNN </a:t>
              </a:r>
              <a:r>
                <a:rPr lang="en-US" sz="98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1×</a:t>
              </a:r>
              <a:r>
                <a:rPr lang="en-US" sz="98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127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125" name="Rectangle 125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128" name="TextBox 128"/>
          <p:cNvSpPr txBox="1"/>
          <p:nvPr/>
        </p:nvSpPr>
        <p:spPr>
          <a:xfrm>
            <a:off x="11514865" y="6590824"/>
            <a:ext cx="1486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15</a:t>
            </a:r>
          </a:p>
        </p:txBody>
      </p:sp>
      <p:sp>
        <p:nvSpPr>
          <p:cNvPr id="129" name="Polyline 51">
            <a:extLst>
              <a:ext uri="{FF2B5EF4-FFF2-40B4-BE49-F238E27FC236}">
                <a16:creationId xmlns:a16="http://schemas.microsoft.com/office/drawing/2014/main" id="{8C47C7F4-7639-38B0-82CB-90EF52B0DBD3}"/>
              </a:ext>
            </a:extLst>
          </p:cNvPr>
          <p:cNvSpPr/>
          <p:nvPr/>
        </p:nvSpPr>
        <p:spPr>
          <a:xfrm>
            <a:off x="1128713" y="2576512"/>
            <a:ext cx="2381249" cy="750570"/>
          </a:xfrm>
          <a:custGeom>
            <a:avLst/>
            <a:gdLst/>
            <a:ahLst/>
            <a:cxnLst/>
            <a:rect l="l" t="t" r="r" b="b"/>
            <a:pathLst>
              <a:path w="2628900" h="838200">
                <a:moveTo>
                  <a:pt x="0" y="838200"/>
                </a:moveTo>
                <a:lnTo>
                  <a:pt x="2628900" y="0"/>
                </a:lnTo>
              </a:path>
            </a:pathLst>
          </a:custGeom>
          <a:noFill/>
          <a:ln w="28575">
            <a:solidFill>
              <a:srgbClr val="9AA7B8"/>
            </a:solidFill>
          </a:ln>
        </p:spPr>
      </p:sp>
      <p:sp>
        <p:nvSpPr>
          <p:cNvPr id="130" name="Polyline 51">
            <a:extLst>
              <a:ext uri="{FF2B5EF4-FFF2-40B4-BE49-F238E27FC236}">
                <a16:creationId xmlns:a16="http://schemas.microsoft.com/office/drawing/2014/main" id="{2D27CE21-9FD0-DCDF-F19A-03B6C726A5B7}"/>
              </a:ext>
            </a:extLst>
          </p:cNvPr>
          <p:cNvSpPr/>
          <p:nvPr/>
        </p:nvSpPr>
        <p:spPr>
          <a:xfrm>
            <a:off x="1019175" y="2952750"/>
            <a:ext cx="2314575" cy="240982"/>
          </a:xfrm>
          <a:custGeom>
            <a:avLst/>
            <a:gdLst/>
            <a:ahLst/>
            <a:cxnLst/>
            <a:rect l="l" t="t" r="r" b="b"/>
            <a:pathLst>
              <a:path w="2628900" h="838200">
                <a:moveTo>
                  <a:pt x="0" y="838200"/>
                </a:moveTo>
                <a:lnTo>
                  <a:pt x="2628900" y="0"/>
                </a:lnTo>
              </a:path>
            </a:pathLst>
          </a:cu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</p:sp>
      <p:sp>
        <p:nvSpPr>
          <p:cNvPr id="131" name="Polyline 51">
            <a:extLst>
              <a:ext uri="{FF2B5EF4-FFF2-40B4-BE49-F238E27FC236}">
                <a16:creationId xmlns:a16="http://schemas.microsoft.com/office/drawing/2014/main" id="{4875C8FD-CE06-29E7-27EF-92F77A31132C}"/>
              </a:ext>
            </a:extLst>
          </p:cNvPr>
          <p:cNvSpPr/>
          <p:nvPr/>
        </p:nvSpPr>
        <p:spPr>
          <a:xfrm>
            <a:off x="1128712" y="3150870"/>
            <a:ext cx="2261595" cy="758190"/>
          </a:xfrm>
          <a:custGeom>
            <a:avLst/>
            <a:gdLst/>
            <a:ahLst/>
            <a:cxnLst/>
            <a:rect l="l" t="t" r="r" b="b"/>
            <a:pathLst>
              <a:path w="2628900" h="838200">
                <a:moveTo>
                  <a:pt x="0" y="838200"/>
                </a:moveTo>
                <a:lnTo>
                  <a:pt x="2628900" y="0"/>
                </a:lnTo>
              </a:path>
            </a:pathLst>
          </a:custGeom>
          <a:noFill/>
          <a:ln w="28575">
            <a:solidFill>
              <a:srgbClr val="3D4A5C"/>
            </a:solidFill>
          </a:ln>
        </p:spPr>
      </p:sp>
      <p:sp>
        <p:nvSpPr>
          <p:cNvPr id="132" name="Polyline 51">
            <a:extLst>
              <a:ext uri="{FF2B5EF4-FFF2-40B4-BE49-F238E27FC236}">
                <a16:creationId xmlns:a16="http://schemas.microsoft.com/office/drawing/2014/main" id="{37A7856E-0F5A-4B02-333B-922769987538}"/>
              </a:ext>
            </a:extLst>
          </p:cNvPr>
          <p:cNvSpPr/>
          <p:nvPr/>
        </p:nvSpPr>
        <p:spPr>
          <a:xfrm>
            <a:off x="4752976" y="2824639"/>
            <a:ext cx="2242946" cy="913924"/>
          </a:xfrm>
          <a:custGeom>
            <a:avLst/>
            <a:gdLst/>
            <a:ahLst/>
            <a:cxnLst/>
            <a:rect l="l" t="t" r="r" b="b"/>
            <a:pathLst>
              <a:path w="2628900" h="838200">
                <a:moveTo>
                  <a:pt x="0" y="838200"/>
                </a:moveTo>
                <a:lnTo>
                  <a:pt x="2628900" y="0"/>
                </a:lnTo>
              </a:path>
            </a:pathLst>
          </a:custGeom>
          <a:noFill/>
          <a:ln w="28575">
            <a:solidFill>
              <a:srgbClr val="9AA7B8"/>
            </a:solidFill>
          </a:ln>
        </p:spPr>
      </p:sp>
      <p:sp>
        <p:nvSpPr>
          <p:cNvPr id="133" name="Polyline 51">
            <a:extLst>
              <a:ext uri="{FF2B5EF4-FFF2-40B4-BE49-F238E27FC236}">
                <a16:creationId xmlns:a16="http://schemas.microsoft.com/office/drawing/2014/main" id="{AE9324DD-62B5-4E71-A18F-B5220D6CDB8C}"/>
              </a:ext>
            </a:extLst>
          </p:cNvPr>
          <p:cNvSpPr/>
          <p:nvPr/>
        </p:nvSpPr>
        <p:spPr>
          <a:xfrm>
            <a:off x="4734328" y="2624138"/>
            <a:ext cx="2059852" cy="1062038"/>
          </a:xfrm>
          <a:custGeom>
            <a:avLst/>
            <a:gdLst/>
            <a:ahLst/>
            <a:cxnLst/>
            <a:rect l="l" t="t" r="r" b="b"/>
            <a:pathLst>
              <a:path w="2628900" h="838200">
                <a:moveTo>
                  <a:pt x="0" y="838200"/>
                </a:moveTo>
                <a:lnTo>
                  <a:pt x="2628900" y="0"/>
                </a:lnTo>
              </a:path>
            </a:pathLst>
          </a:custGeom>
          <a:noFill/>
          <a:ln w="28575">
            <a:solidFill>
              <a:srgbClr val="3D4A5C"/>
            </a:solidFill>
          </a:ln>
        </p:spPr>
      </p:sp>
      <p:sp>
        <p:nvSpPr>
          <p:cNvPr id="134" name="Polyline 51">
            <a:extLst>
              <a:ext uri="{FF2B5EF4-FFF2-40B4-BE49-F238E27FC236}">
                <a16:creationId xmlns:a16="http://schemas.microsoft.com/office/drawing/2014/main" id="{21F78234-DFEE-CD15-4BC6-174B92A2A4A4}"/>
              </a:ext>
            </a:extLst>
          </p:cNvPr>
          <p:cNvSpPr/>
          <p:nvPr/>
        </p:nvSpPr>
        <p:spPr>
          <a:xfrm>
            <a:off x="4827270" y="2900363"/>
            <a:ext cx="2390394" cy="1109662"/>
          </a:xfrm>
          <a:custGeom>
            <a:avLst/>
            <a:gdLst/>
            <a:ahLst/>
            <a:cxnLst/>
            <a:rect l="l" t="t" r="r" b="b"/>
            <a:pathLst>
              <a:path w="2628900" h="838200">
                <a:moveTo>
                  <a:pt x="0" y="838200"/>
                </a:moveTo>
                <a:lnTo>
                  <a:pt x="2628900" y="0"/>
                </a:lnTo>
              </a:path>
            </a:pathLst>
          </a:cu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8323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ViT³: A Test-Time Training Architecture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1" name="lead"/>
          <p:cNvGrpSpPr/>
          <p:nvPr/>
        </p:nvGrpSpPr>
        <p:grpSpPr>
          <a:xfrm>
            <a:off x="952500" y="1022032"/>
            <a:ext cx="7164499" cy="322707"/>
            <a:chOff x="952500" y="1022032"/>
            <a:chExt cx="7164499" cy="322707"/>
          </a:xfrm>
        </p:grpSpPr>
        <p:sp>
          <p:nvSpPr>
            <p:cNvPr id="9" name="Freeform 9"/>
            <p:cNvSpPr/>
            <p:nvPr/>
          </p:nvSpPr>
          <p:spPr>
            <a:xfrm>
              <a:off x="952500" y="108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72718" y="1022032"/>
              <a:ext cx="6944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Scales </a:t>
              </a:r>
              <a:r>
                <a:rPr lang="en-US" sz="1650" b="1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more efficiently</a:t>
              </a:r>
              <a:r>
                <a:rPr lang="en-US" sz="165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in throughput and memory consumption</a:t>
              </a:r>
            </a:p>
          </p:txBody>
        </p:sp>
      </p:grpSp>
      <p:grpSp>
        <p:nvGrpSpPr>
          <p:cNvPr id="15" name="figure-box"/>
          <p:cNvGrpSpPr/>
          <p:nvPr/>
        </p:nvGrpSpPr>
        <p:grpSpPr>
          <a:xfrm>
            <a:off x="571500" y="1524000"/>
            <a:ext cx="6858000" cy="2958703"/>
            <a:chOff x="571500" y="1524000"/>
            <a:chExt cx="6858000" cy="2958703"/>
          </a:xfrm>
        </p:grpSpPr>
        <p:sp>
          <p:nvSpPr>
            <p:cNvPr id="12" name="Rectangle 12"/>
            <p:cNvSpPr/>
            <p:nvPr/>
          </p:nvSpPr>
          <p:spPr>
            <a:xfrm>
              <a:off x="571500" y="1524000"/>
              <a:ext cx="6858000" cy="2667000"/>
            </a:xfrm>
            <a:prstGeom prst="roundRect">
              <a:avLst>
                <a:gd name="adj" fmla="val 3571"/>
              </a:avLst>
            </a:prstGeom>
            <a:solidFill>
              <a:srgbClr val="FBFDFF"/>
            </a:solidFill>
            <a:ln w="14288">
              <a:solidFill>
                <a:srgbClr val="C9D8EC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658" y="1733550"/>
              <a:ext cx="6467684" cy="2133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441433" y="4299347"/>
              <a:ext cx="51181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Figure 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4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: (a) FPS on RTX</a:t>
              </a:r>
              <a:r>
                <a:rPr lang="en-US" sz="940" dirty="0">
                  <a:solidFill>
                    <a:srgbClr val="8A97A8"/>
                  </a:solidFill>
                  <a:latin typeface="Times New Roman"/>
                  <a:ea typeface="+mn-ea"/>
                  <a:cs typeface="+mn-cs"/>
                </a:rPr>
                <a:t>3090,</a:t>
              </a:r>
              <a:r>
                <a:rPr lang="en-US" sz="940" dirty="0">
                  <a:solidFill>
                    <a:srgbClr val="8A97A8"/>
                  </a:solidFill>
                  <a:latin typeface="+mn-lt"/>
                  <a:ea typeface="+mn-ea"/>
                  <a:cs typeface="+mn-cs"/>
                </a:rPr>
                <a:t> (b) per-image GPU memory usage (from the paper)</a:t>
              </a:r>
            </a:p>
          </p:txBody>
        </p:sp>
      </p:grpSp>
      <p:grpSp>
        <p:nvGrpSpPr>
          <p:cNvPr id="19" name="kpi-speedup"/>
          <p:cNvGrpSpPr/>
          <p:nvPr/>
        </p:nvGrpSpPr>
        <p:grpSpPr>
          <a:xfrm>
            <a:off x="7810500" y="1619250"/>
            <a:ext cx="3848100" cy="1181100"/>
            <a:chOff x="7810500" y="1619250"/>
            <a:chExt cx="3848100" cy="1181100"/>
          </a:xfrm>
        </p:grpSpPr>
        <p:sp>
          <p:nvSpPr>
            <p:cNvPr id="16" name="Rectangle 16"/>
            <p:cNvSpPr/>
            <p:nvPr/>
          </p:nvSpPr>
          <p:spPr>
            <a:xfrm>
              <a:off x="7810500" y="1619250"/>
              <a:ext cx="3848100" cy="1181100"/>
            </a:xfrm>
            <a:prstGeom prst="roundRect">
              <a:avLst>
                <a:gd name="adj" fmla="val 9677"/>
              </a:avLst>
            </a:prstGeom>
            <a:solidFill>
              <a:srgbClr val="EAF2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7774" y="1989772"/>
              <a:ext cx="117776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D5FA8"/>
                  </a:solidFill>
                  <a:latin typeface="Times New Roman"/>
                  <a:ea typeface="+mn-ea"/>
                  <a:cs typeface="+mn-cs"/>
                </a:rPr>
                <a:t>4.6×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19285" y="1935956"/>
              <a:ext cx="1325571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1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speedup over DeiT-T</a:t>
              </a:r>
              <a:br>
                <a:rPr dirty="0"/>
              </a:br>
              <a:r>
                <a:rPr lang="en-US" sz="11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at </a:t>
              </a:r>
              <a:r>
                <a:rPr lang="en-US" sz="1120" dirty="0">
                  <a:solidFill>
                    <a:srgbClr val="14355E"/>
                  </a:solidFill>
                  <a:latin typeface="Times New Roman"/>
                  <a:ea typeface="+mn-ea"/>
                  <a:cs typeface="+mn-cs"/>
                </a:rPr>
                <a:t>1248²</a:t>
              </a:r>
              <a:r>
                <a:rPr lang="en-US" sz="11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 resolution</a:t>
              </a:r>
            </a:p>
          </p:txBody>
        </p:sp>
      </p:grpSp>
      <p:grpSp>
        <p:nvGrpSpPr>
          <p:cNvPr id="23" name="kpi-memory"/>
          <p:cNvGrpSpPr/>
          <p:nvPr/>
        </p:nvGrpSpPr>
        <p:grpSpPr>
          <a:xfrm>
            <a:off x="7810500" y="3048000"/>
            <a:ext cx="3848100" cy="1181100"/>
            <a:chOff x="7810500" y="3048000"/>
            <a:chExt cx="3848100" cy="1181100"/>
          </a:xfrm>
        </p:grpSpPr>
        <p:sp>
          <p:nvSpPr>
            <p:cNvPr id="20" name="Rectangle 20"/>
            <p:cNvSpPr/>
            <p:nvPr/>
          </p:nvSpPr>
          <p:spPr>
            <a:xfrm>
              <a:off x="7810500" y="3048000"/>
              <a:ext cx="3848100" cy="1181100"/>
            </a:xfrm>
            <a:prstGeom prst="roundRect">
              <a:avLst>
                <a:gd name="adj" fmla="val 9677"/>
              </a:avLst>
            </a:prstGeom>
            <a:solidFill>
              <a:srgbClr val="EAF2F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7774" y="3418522"/>
              <a:ext cx="194118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6365F"/>
                  </a:solidFill>
                  <a:latin typeface="Times New Roman"/>
                  <a:ea typeface="+mn-ea"/>
                  <a:cs typeface="+mn-cs"/>
                </a:rPr>
                <a:t>−90.3%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05035" y="3364706"/>
              <a:ext cx="86753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1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GPU memory</a:t>
              </a:r>
              <a:br/>
              <a:r>
                <a:rPr lang="en-US" sz="11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consumption</a:t>
              </a:r>
              <a:br/>
              <a:r>
                <a:rPr lang="en-US" sz="1120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per image</a:t>
              </a:r>
            </a:p>
          </p:txBody>
        </p:sp>
      </p:grpSp>
      <p:grpSp>
        <p:nvGrpSpPr>
          <p:cNvPr id="25" name="token-note"/>
          <p:cNvGrpSpPr/>
          <p:nvPr/>
        </p:nvGrpSpPr>
        <p:grpSpPr>
          <a:xfrm>
            <a:off x="7957185" y="4564856"/>
            <a:ext cx="2686097" cy="677228"/>
            <a:chOff x="7957185" y="4564856"/>
            <a:chExt cx="2686097" cy="677228"/>
          </a:xfrm>
        </p:grpSpPr>
        <p:sp>
          <p:nvSpPr>
            <p:cNvPr id="24" name="TextBox 24"/>
            <p:cNvSpPr txBox="1"/>
            <p:nvPr/>
          </p:nvSpPr>
          <p:spPr>
            <a:xfrm>
              <a:off x="7957185" y="4564856"/>
              <a:ext cx="2686097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120" dirty="0">
                  <a:solidFill>
                    <a:srgbClr val="64748B"/>
                  </a:solidFill>
                  <a:latin typeface="Times New Roman"/>
                  <a:ea typeface="+mn-ea"/>
                  <a:cs typeface="+mn-cs"/>
                </a:rPr>
                <a:t>6,084</a:t>
              </a:r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tokens per image at </a:t>
              </a:r>
              <a:r>
                <a:rPr lang="en-US" sz="1120" dirty="0">
                  <a:solidFill>
                    <a:srgbClr val="64748B"/>
                  </a:solidFill>
                  <a:latin typeface="Times New Roman"/>
                  <a:ea typeface="+mn-ea"/>
                  <a:cs typeface="+mn-cs"/>
                </a:rPr>
                <a:t>1248²</a:t>
              </a:r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.</a:t>
              </a:r>
              <a:br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Linear time and memory complexity keeps</a:t>
              </a:r>
              <a:br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ViT³ efficient as resolution grows.</a:t>
              </a:r>
            </a:p>
          </p:txBody>
        </p:sp>
      </p:grpSp>
      <p:grpSp>
        <p:nvGrpSpPr>
          <p:cNvPr id="28" name="citation-bar"/>
          <p:cNvGrpSpPr/>
          <p:nvPr/>
        </p:nvGrpSpPr>
        <p:grpSpPr>
          <a:xfrm>
            <a:off x="3048000" y="6457950"/>
            <a:ext cx="6096000" cy="269701"/>
            <a:chOff x="3048000" y="6457950"/>
            <a:chExt cx="6096000" cy="269701"/>
          </a:xfrm>
        </p:grpSpPr>
        <p:sp>
          <p:nvSpPr>
            <p:cNvPr id="26" name="Rectangle 26"/>
            <p:cNvSpPr/>
            <p:nvPr/>
          </p:nvSpPr>
          <p:spPr>
            <a:xfrm>
              <a:off x="3048000" y="6457950"/>
              <a:ext cx="6096000" cy="266700"/>
            </a:xfrm>
            <a:prstGeom prst="roundRect">
              <a:avLst>
                <a:gd name="adj" fmla="val 14286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67163" y="6529626"/>
              <a:ext cx="50576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Han et al. ViT³: Unlocking Test-Time Training in Vision, CVPR </a:t>
              </a:r>
              <a:r>
                <a:rPr lang="en-US" sz="1010" dirty="0">
                  <a:solidFill>
                    <a:srgbClr val="FFFFFF"/>
                  </a:solidFill>
                  <a:latin typeface="Times New Roman"/>
                  <a:ea typeface="+mn-ea"/>
                  <a:cs typeface="+mn-cs"/>
                </a:rPr>
                <a:t>2026</a:t>
              </a:r>
              <a:r>
                <a:rPr lang="en-US" sz="101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(Oral)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523717" y="6590824"/>
            <a:ext cx="1398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519684" y="158591"/>
            <a:ext cx="11138916" cy="706660"/>
            <a:chOff x="519684" y="158591"/>
            <a:chExt cx="11138916" cy="706660"/>
          </a:xfrm>
        </p:grpSpPr>
        <p:sp>
          <p:nvSpPr>
            <p:cNvPr id="2" name="TextBox 2"/>
            <p:cNvSpPr txBox="1"/>
            <p:nvPr/>
          </p:nvSpPr>
          <p:spPr>
            <a:xfrm>
              <a:off x="519684" y="337185"/>
              <a:ext cx="42114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Take-away Messages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819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rgbClr val="C9D8EC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00832" y="158591"/>
              <a:ext cx="3057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3200" y="285750"/>
              <a:ext cx="381000" cy="3810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1077038" y="158591"/>
              <a:ext cx="248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900" y="285750"/>
              <a:ext cx="381000" cy="381000"/>
            </a:xfrm>
            <a:prstGeom prst="rect">
              <a:avLst/>
            </a:prstGeom>
          </p:spPr>
        </p:pic>
      </p:grpSp>
      <p:grpSp>
        <p:nvGrpSpPr>
          <p:cNvPr id="10" name="subhead"/>
          <p:cNvGrpSpPr/>
          <p:nvPr/>
        </p:nvGrpSpPr>
        <p:grpSpPr>
          <a:xfrm>
            <a:off x="1038606" y="1386840"/>
            <a:ext cx="5931574" cy="352044"/>
            <a:chOff x="1038606" y="1386840"/>
            <a:chExt cx="5931574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1038606" y="1386840"/>
              <a:ext cx="5931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Test-Time Training Model: A new paradigm</a:t>
              </a:r>
            </a:p>
          </p:txBody>
        </p:sp>
      </p:grpSp>
      <p:grpSp>
        <p:nvGrpSpPr>
          <p:cNvPr id="14" name="takeaway-1"/>
          <p:cNvGrpSpPr/>
          <p:nvPr/>
        </p:nvGrpSpPr>
        <p:grpSpPr>
          <a:xfrm>
            <a:off x="1485900" y="2230279"/>
            <a:ext cx="6464968" cy="631889"/>
            <a:chOff x="1485900" y="2230279"/>
            <a:chExt cx="6464968" cy="631889"/>
          </a:xfrm>
        </p:grpSpPr>
        <p:sp>
          <p:nvSpPr>
            <p:cNvPr id="11" name="Freeform 11"/>
            <p:cNvSpPr/>
            <p:nvPr/>
          </p:nvSpPr>
          <p:spPr>
            <a:xfrm>
              <a:off x="1485900" y="22669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01749" y="2230279"/>
              <a:ext cx="6149119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They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present </a:t>
              </a:r>
              <a:r>
                <a:rPr lang="en-US" sz="1580" b="1" i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the first systematic empirical study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of Test-Time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1749" y="2554129"/>
              <a:ext cx="268396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Training designs for vision</a:t>
              </a:r>
            </a:p>
          </p:txBody>
        </p:sp>
      </p:grpSp>
      <p:grpSp>
        <p:nvGrpSpPr>
          <p:cNvPr id="18" name="takeaway-2"/>
          <p:cNvGrpSpPr/>
          <p:nvPr/>
        </p:nvGrpSpPr>
        <p:grpSpPr>
          <a:xfrm>
            <a:off x="1485900" y="3316129"/>
            <a:ext cx="6501691" cy="631889"/>
            <a:chOff x="1485900" y="3316129"/>
            <a:chExt cx="6501691" cy="631889"/>
          </a:xfrm>
        </p:grpSpPr>
        <p:sp>
          <p:nvSpPr>
            <p:cNvPr id="15" name="Freeform 15"/>
            <p:cNvSpPr/>
            <p:nvPr/>
          </p:nvSpPr>
          <p:spPr>
            <a:xfrm>
              <a:off x="1485900" y="33528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01749" y="3316129"/>
              <a:ext cx="6150723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They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offer </a:t>
              </a:r>
              <a:r>
                <a:rPr lang="en-US" sz="1580" b="1" i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six practical insights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for building effective yet efficient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1749" y="3639979"/>
              <a:ext cx="61858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TTT modules, with detailed analyses of the TTT design space</a:t>
              </a:r>
            </a:p>
          </p:txBody>
        </p:sp>
      </p:grpSp>
      <p:grpSp>
        <p:nvGrpSpPr>
          <p:cNvPr id="22" name="takeaway-3"/>
          <p:cNvGrpSpPr/>
          <p:nvPr/>
        </p:nvGrpSpPr>
        <p:grpSpPr>
          <a:xfrm>
            <a:off x="1485900" y="4401979"/>
            <a:ext cx="6657329" cy="566993"/>
            <a:chOff x="1485900" y="4401979"/>
            <a:chExt cx="6657329" cy="566993"/>
          </a:xfrm>
        </p:grpSpPr>
        <p:sp>
          <p:nvSpPr>
            <p:cNvPr id="19" name="Freeform 19"/>
            <p:cNvSpPr/>
            <p:nvPr/>
          </p:nvSpPr>
          <p:spPr>
            <a:xfrm>
              <a:off x="1485900" y="4438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01749" y="4401979"/>
              <a:ext cx="6341480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They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build </a:t>
              </a:r>
              <a:r>
                <a:rPr lang="en-US" sz="1580" b="1" i="1" dirty="0">
                  <a:solidFill>
                    <a:srgbClr val="1D5FA8"/>
                  </a:solidFill>
                  <a:latin typeface="+mn-lt"/>
                  <a:ea typeface="+mn-ea"/>
                  <a:cs typeface="+mn-cs"/>
                </a:rPr>
                <a:t>Vision Test-Time Training (ViT³)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, a pure TTT baseline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1749" y="4725829"/>
              <a:ext cx="5355633" cy="243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with linear complexity, competitive across </a:t>
              </a:r>
              <a:r>
                <a:rPr lang="en-US" altLang="zh-CN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three</a:t>
              </a:r>
              <a:r>
                <a:rPr lang="en-US" sz="1580" dirty="0">
                  <a:solidFill>
                    <a:srgbClr val="24303F"/>
                  </a:solidFill>
                  <a:latin typeface="+mn-lt"/>
                  <a:ea typeface="+mn-ea"/>
                  <a:cs typeface="+mn-cs"/>
                </a:rPr>
                <a:t> visual tasks</a:t>
              </a:r>
            </a:p>
          </p:txBody>
        </p:sp>
      </p:grpSp>
      <p:grpSp>
        <p:nvGrpSpPr>
          <p:cNvPr id="26" name="deco-corner"/>
          <p:cNvGrpSpPr/>
          <p:nvPr/>
        </p:nvGrpSpPr>
        <p:grpSpPr>
          <a:xfrm>
            <a:off x="10496550" y="5391150"/>
            <a:ext cx="1695450" cy="1028700"/>
            <a:chOff x="10496550" y="5391150"/>
            <a:chExt cx="1695450" cy="1028700"/>
          </a:xfrm>
        </p:grpSpPr>
        <p:sp>
          <p:nvSpPr>
            <p:cNvPr id="23" name="Rectangle 23"/>
            <p:cNvSpPr/>
            <p:nvPr/>
          </p:nvSpPr>
          <p:spPr>
            <a:xfrm>
              <a:off x="10953750" y="5619750"/>
              <a:ext cx="800100" cy="800100"/>
            </a:xfrm>
            <a:prstGeom prst="rect">
              <a:avLst/>
            </a:prstGeom>
            <a:solidFill>
              <a:srgbClr val="E3EEF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772900" y="5391150"/>
              <a:ext cx="419100" cy="41910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496550" y="6096000"/>
              <a:ext cx="323850" cy="323850"/>
            </a:xfrm>
            <a:prstGeom prst="rect">
              <a:avLst/>
            </a:prstGeom>
            <a:solidFill>
              <a:srgbClr val="EDF4FC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1510641" y="6590824"/>
            <a:ext cx="1529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94A3B8"/>
                </a:solidFill>
                <a:latin typeface="Times New Roman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E56"/>
            </a:gs>
            <a:gs pos="100000">
              <a:srgbClr val="1D5FA8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deco-corner"/>
          <p:cNvGrpSpPr/>
          <p:nvPr/>
        </p:nvGrpSpPr>
        <p:grpSpPr>
          <a:xfrm>
            <a:off x="285750" y="-285750"/>
            <a:ext cx="12096750" cy="7239000"/>
            <a:chOff x="285750" y="-285750"/>
            <a:chExt cx="12096750" cy="7239000"/>
          </a:xfrm>
        </p:grpSpPr>
        <p:sp>
          <p:nvSpPr>
            <p:cNvPr id="2" name="Rectangle 2"/>
            <p:cNvSpPr/>
            <p:nvPr/>
          </p:nvSpPr>
          <p:spPr>
            <a:xfrm>
              <a:off x="10477500" y="-285750"/>
              <a:ext cx="1619250" cy="1619250"/>
            </a:xfrm>
            <a:prstGeom prst="rect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11334750" y="1238250"/>
              <a:ext cx="1047750" cy="104775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285750" y="5524500"/>
              <a:ext cx="1428750" cy="1428750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24000" y="6191250"/>
              <a:ext cx="762000" cy="76200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>
              <a:noFill/>
            </a:ln>
          </p:spPr>
        </p:sp>
      </p:grpSp>
      <p:grpSp>
        <p:nvGrpSpPr>
          <p:cNvPr id="13" name="end-cvpr"/>
          <p:cNvGrpSpPr/>
          <p:nvPr/>
        </p:nvGrpSpPr>
        <p:grpSpPr>
          <a:xfrm>
            <a:off x="9677400" y="285750"/>
            <a:ext cx="2095500" cy="628650"/>
            <a:chOff x="9677400" y="285750"/>
            <a:chExt cx="2095500" cy="628650"/>
          </a:xfrm>
        </p:grpSpPr>
        <p:sp>
          <p:nvSpPr>
            <p:cNvPr id="11" name="Rectangle 11"/>
            <p:cNvSpPr/>
            <p:nvPr/>
          </p:nvSpPr>
          <p:spPr>
            <a:xfrm>
              <a:off x="9677400" y="285750"/>
              <a:ext cx="20955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8954" y="381000"/>
              <a:ext cx="1612392" cy="438150"/>
            </a:xfrm>
            <a:prstGeom prst="rect">
              <a:avLst/>
            </a:prstGeom>
          </p:spPr>
        </p:pic>
      </p:grpSp>
      <p:sp>
        <p:nvSpPr>
          <p:cNvPr id="14" name="TextBox 14"/>
          <p:cNvSpPr txBox="1"/>
          <p:nvPr/>
        </p:nvSpPr>
        <p:spPr>
          <a:xfrm>
            <a:off x="4302294" y="1985010"/>
            <a:ext cx="358741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Thank you!</a:t>
            </a:r>
          </a:p>
        </p:txBody>
      </p:sp>
      <p:grpSp>
        <p:nvGrpSpPr>
          <p:cNvPr id="22" name="qr-paper-chip"/>
          <p:cNvGrpSpPr/>
          <p:nvPr/>
        </p:nvGrpSpPr>
        <p:grpSpPr>
          <a:xfrm>
            <a:off x="4000500" y="3486150"/>
            <a:ext cx="1905000" cy="1676400"/>
            <a:chOff x="4000500" y="3486150"/>
            <a:chExt cx="1905000" cy="1676400"/>
          </a:xfrm>
        </p:grpSpPr>
        <p:sp>
          <p:nvSpPr>
            <p:cNvPr id="18" name="Rectangle 18"/>
            <p:cNvSpPr/>
            <p:nvPr/>
          </p:nvSpPr>
          <p:spPr>
            <a:xfrm>
              <a:off x="4000500" y="3486150"/>
              <a:ext cx="1905000" cy="1676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5800" y="3638550"/>
              <a:ext cx="914400" cy="9144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4226" y="4698206"/>
              <a:ext cx="517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4647" y="4927997"/>
              <a:ext cx="10967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arXiv:</a:t>
              </a:r>
              <a:r>
                <a:rPr lang="en-US" sz="940" dirty="0">
                  <a:solidFill>
                    <a:srgbClr val="64748B"/>
                  </a:solidFill>
                  <a:latin typeface="Times New Roman"/>
                  <a:ea typeface="+mn-ea"/>
                  <a:cs typeface="+mn-cs"/>
                </a:rPr>
                <a:t>2512.01643</a:t>
              </a:r>
            </a:p>
          </p:txBody>
        </p:sp>
      </p:grpSp>
      <p:grpSp>
        <p:nvGrpSpPr>
          <p:cNvPr id="27" name="qr-code-chip"/>
          <p:cNvGrpSpPr/>
          <p:nvPr/>
        </p:nvGrpSpPr>
        <p:grpSpPr>
          <a:xfrm>
            <a:off x="6286500" y="3486150"/>
            <a:ext cx="1905000" cy="1676400"/>
            <a:chOff x="6286500" y="3486150"/>
            <a:chExt cx="1905000" cy="1676400"/>
          </a:xfrm>
        </p:grpSpPr>
        <p:sp>
          <p:nvSpPr>
            <p:cNvPr id="23" name="Rectangle 23"/>
            <p:cNvSpPr/>
            <p:nvPr/>
          </p:nvSpPr>
          <p:spPr>
            <a:xfrm>
              <a:off x="6286500" y="3486150"/>
              <a:ext cx="1905000" cy="1676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81800" y="3638550"/>
              <a:ext cx="914400" cy="9144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016264" y="4698206"/>
              <a:ext cx="4454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4355E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99412" y="4927997"/>
              <a:ext cx="67917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github.com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vit3_report">
  <a:themeElements>
    <a:clrScheme name="vit3_repor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t3_report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t3_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1555</Words>
  <Application>Microsoft Office PowerPoint</Application>
  <PresentationFormat>宽屏</PresentationFormat>
  <Paragraphs>287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微软雅黑</vt:lpstr>
      <vt:lpstr>Arial</vt:lpstr>
      <vt:lpstr>Cambria Math</vt:lpstr>
      <vt:lpstr>Georgia</vt:lpstr>
      <vt:lpstr>Times New Roman</vt:lpstr>
      <vt:lpstr>vit3_report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Wu kruis</cp:lastModifiedBy>
  <cp:revision>7</cp:revision>
  <dcterms:created xsi:type="dcterms:W3CDTF">2026-09-26T07:17:25Z</dcterms:created>
  <dcterms:modified xsi:type="dcterms:W3CDTF">2026-09-27T11:14:58Z</dcterms:modified>
  <cp:category/>
  <cp:contentStatus/>
  <dc:language>en-US</dc:language>
</cp:coreProperties>
</file>